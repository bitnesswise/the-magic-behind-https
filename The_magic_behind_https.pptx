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2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_rels/notesSlide67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9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43.xml.rels" ContentType="application/vnd.openxmlformats-package.relationships+xml"/>
  <Override PartName="/ppt/notesSlides/_rels/notesSlide44.xml.rels" ContentType="application/vnd.openxmlformats-package.relationships+xml"/>
  <Override PartName="/ppt/notesSlides/_rels/notesSlide50.xml.rels" ContentType="application/vnd.openxmlformats-package.relationships+xml"/>
  <Override PartName="/ppt/notesSlides/_rels/notesSlide51.xml.rels" ContentType="application/vnd.openxmlformats-package.relationships+xml"/>
  <Override PartName="/ppt/notesSlides/_rels/notesSlide53.xml.rels" ContentType="application/vnd.openxmlformats-package.relationships+xml"/>
  <Override PartName="/ppt/notesSlides/_rels/notesSlide62.xml.rels" ContentType="application/vnd.openxmlformats-package.relationships+xml"/>
  <Override PartName="/ppt/notesSlides/_rels/notesSlide66.xml.rels" ContentType="application/vnd.openxmlformats-package.relationships+xml"/>
  <Override PartName="/ppt/notesSlides/_rels/notesSlide71.xml.rels" ContentType="application/vnd.openxmlformats-package.relationships+xml"/>
  <Override PartName="/ppt/notesSlides/_rels/notesSlide74.xml.rels" ContentType="application/vnd.openxmlformats-package.relationships+xml"/>
  <Override PartName="/ppt/notesSlides/_rels/notesSlide75.xml.rels" ContentType="application/vnd.openxmlformats-package.relationship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38.xml.rels" ContentType="application/vnd.openxmlformats-package.relationships+xml"/>
  <Override PartName="/ppt/slides/_rels/slide21.xml.rels" ContentType="application/vnd.openxmlformats-package.relationships+xml"/>
  <Override PartName="/ppt/slides/_rels/slide5.xml.rels" ContentType="application/vnd.openxmlformats-package.relationships+xml"/>
  <Override PartName="/ppt/slides/_rels/slide39.xml.rels" ContentType="application/vnd.openxmlformats-package.relationships+xml"/>
  <Override PartName="/ppt/slides/_rels/slide6.xml.rels" ContentType="application/vnd.openxmlformats-package.relationships+xml"/>
  <Override PartName="/ppt/slides/_rels/slide50.xml.rels" ContentType="application/vnd.openxmlformats-package.relationships+xml"/>
  <Override PartName="/ppt/slides/_rels/slide23.xml.rels" ContentType="application/vnd.openxmlformats-package.relationships+xml"/>
  <Override PartName="/ppt/slides/_rels/slide7.xml.rels" ContentType="application/vnd.openxmlformats-package.relationships+xml"/>
  <Override PartName="/ppt/slides/_rels/slide51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52.xml.rels" ContentType="application/vnd.openxmlformats-package.relationships+xml"/>
  <Override PartName="/ppt/slides/_rels/slide25.xml.rels" ContentType="application/vnd.openxmlformats-package.relationships+xml"/>
  <Override PartName="/ppt/slides/_rels/slide9.xml.rels" ContentType="application/vnd.openxmlformats-package.relationships+xml"/>
  <Override PartName="/ppt/slides/_rels/slide53.xml.rels" ContentType="application/vnd.openxmlformats-package.relationships+xml"/>
  <Override PartName="/ppt/slides/_rels/slide26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slides/_rels/slide47.xml.rels" ContentType="application/vnd.openxmlformats-package.relationships+xml"/>
  <Override PartName="/ppt/slides/_rels/slide48.xml.rels" ContentType="application/vnd.openxmlformats-package.relationships+xml"/>
  <Override PartName="/ppt/slides/_rels/slide49.xml.rels" ContentType="application/vnd.openxmlformats-package.relationships+xml"/>
  <Override PartName="/ppt/slides/_rels/slide54.xml.rels" ContentType="application/vnd.openxmlformats-package.relationships+xml"/>
  <Override PartName="/ppt/slides/_rels/slide55.xml.rels" ContentType="application/vnd.openxmlformats-package.relationships+xml"/>
  <Override PartName="/ppt/slides/_rels/slide56.xml.rels" ContentType="application/vnd.openxmlformats-package.relationships+xml"/>
  <Override PartName="/ppt/slides/_rels/slide57.xml.rels" ContentType="application/vnd.openxmlformats-package.relationships+xml"/>
  <Override PartName="/ppt/slides/_rels/slide58.xml.rels" ContentType="application/vnd.openxmlformats-package.relationships+xml"/>
  <Override PartName="/ppt/slides/_rels/slide59.xml.rels" ContentType="application/vnd.openxmlformats-package.relationships+xml"/>
  <Override PartName="/ppt/slides/_rels/slide60.xml.rels" ContentType="application/vnd.openxmlformats-package.relationships+xml"/>
  <Override PartName="/ppt/slides/_rels/slide61.xml.rels" ContentType="application/vnd.openxmlformats-package.relationships+xml"/>
  <Override PartName="/ppt/slides/_rels/slide62.xml.rels" ContentType="application/vnd.openxmlformats-package.relationships+xml"/>
  <Override PartName="/ppt/slides/_rels/slide63.xml.rels" ContentType="application/vnd.openxmlformats-package.relationships+xml"/>
  <Override PartName="/ppt/slides/_rels/slide64.xml.rels" ContentType="application/vnd.openxmlformats-package.relationships+xml"/>
  <Override PartName="/ppt/slides/_rels/slide65.xml.rels" ContentType="application/vnd.openxmlformats-package.relationships+xml"/>
  <Override PartName="/ppt/slides/_rels/slide66.xml.rels" ContentType="application/vnd.openxmlformats-package.relationships+xml"/>
  <Override PartName="/ppt/slides/_rels/slide67.xml.rels" ContentType="application/vnd.openxmlformats-package.relationships+xml"/>
  <Override PartName="/ppt/slides/_rels/slide68.xml.rels" ContentType="application/vnd.openxmlformats-package.relationships+xml"/>
  <Override PartName="/ppt/slides/_rels/slide69.xml.rels" ContentType="application/vnd.openxmlformats-package.relationships+xml"/>
  <Override PartName="/ppt/slides/_rels/slide70.xml.rels" ContentType="application/vnd.openxmlformats-package.relationships+xml"/>
  <Override PartName="/ppt/slides/_rels/slide71.xml.rels" ContentType="application/vnd.openxmlformats-package.relationships+xml"/>
  <Override PartName="/ppt/slides/_rels/slide72.xml.rels" ContentType="application/vnd.openxmlformats-package.relationships+xml"/>
  <Override PartName="/ppt/slides/_rels/slide73.xml.rels" ContentType="application/vnd.openxmlformats-package.relationships+xml"/>
  <Override PartName="/ppt/slides/_rels/slide74.xml.rels" ContentType="application/vnd.openxmlformats-package.relationships+xml"/>
  <Override PartName="/ppt/slides/_rels/slide75.xml.rels" ContentType="application/vnd.openxmlformats-package.relationships+xml"/>
  <Override PartName="/ppt/slides/_rels/slide76.xml.rels" ContentType="application/vnd.openxmlformats-package.relationships+xml"/>
  <Override PartName="/ppt/slides/_rels/slide77.xml.rels" ContentType="application/vnd.openxmlformats-package.relationships+xml"/>
  <Override PartName="/ppt/slides/_rels/slide78.xml.rels" ContentType="application/vnd.openxmlformats-package.relationships+xml"/>
  <Override PartName="/ppt/media/image57.png" ContentType="image/png"/>
  <Override PartName="/ppt/media/image1.png" ContentType="image/png"/>
  <Override PartName="/ppt/media/image36.jpeg" ContentType="image/jpeg"/>
  <Override PartName="/ppt/media/image25.png" ContentType="image/png"/>
  <Override PartName="/ppt/media/hdphoto1.wdp" ContentType="image/vnd.ms-photo"/>
  <Override PartName="/ppt/media/image38.png" ContentType="image/png"/>
  <Override PartName="/ppt/media/image2.jpeg" ContentType="image/jpeg"/>
  <Override PartName="/ppt/media/image71.png" ContentType="image/png"/>
  <Override PartName="/ppt/media/image5.png" ContentType="image/png"/>
  <Override PartName="/ppt/media/image3.jpeg" ContentType="image/jpeg"/>
  <Override PartName="/ppt/media/image48.png" ContentType="image/png"/>
  <Override PartName="/ppt/media/image4.jpeg" ContentType="image/jpeg"/>
  <Override PartName="/ppt/media/image58.png" ContentType="image/png"/>
  <Override PartName="/ppt/media/image72.png" ContentType="image/png"/>
  <Override PartName="/ppt/media/image6.png" ContentType="image/png"/>
  <Override PartName="/ppt/media/image73.png" ContentType="image/png"/>
  <Override PartName="/ppt/media/image7.png" ContentType="image/png"/>
  <Override PartName="/ppt/media/image8.jpeg" ContentType="image/jpeg"/>
  <Override PartName="/ppt/media/image75.png" ContentType="image/png"/>
  <Override PartName="/ppt/media/image9.png" ContentType="image/png"/>
  <Override PartName="/ppt/media/image10.jpeg" ContentType="image/jpeg"/>
  <Override PartName="/ppt/media/image56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jpeg" ContentType="image/jpeg"/>
  <Override PartName="/ppt/media/image59.png" ContentType="image/png"/>
  <Override PartName="/ppt/media/image18.png" ContentType="image/png"/>
  <Override PartName="/ppt/media/image19.jpeg" ContentType="image/jpeg"/>
  <Override PartName="/ppt/media/image22.png" ContentType="image/png"/>
  <Override PartName="/ppt/media/image20.png" ContentType="image/png"/>
  <Override PartName="/ppt/media/image21.jpeg" ContentType="image/jpeg"/>
  <Override PartName="/ppt/media/image54.png" ContentType="image/png"/>
  <Override PartName="/ppt/media/image23.png" ContentType="image/png"/>
  <Override PartName="/ppt/media/image24.png" ContentType="image/png"/>
  <Override PartName="/ppt/media/image26.png" ContentType="image/png"/>
  <Override PartName="/ppt/media/image27.png" ContentType="image/png"/>
  <Override PartName="/ppt/media/image100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41.jpeg" ContentType="image/jpe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7.png" ContentType="image/png"/>
  <Override PartName="/ppt/media/image39.png" ContentType="image/png"/>
  <Override PartName="/ppt/media/image40.png" ContentType="image/png"/>
  <Override PartName="/ppt/media/image42.jpeg" ContentType="image/jpeg"/>
  <Override PartName="/ppt/media/image43.jpeg" ContentType="image/jpeg"/>
  <Override PartName="/ppt/media/image50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9.png" ContentType="image/png"/>
  <Override PartName="/ppt/media/image51.png" ContentType="image/png"/>
  <Override PartName="/ppt/media/image52.png" ContentType="image/png"/>
  <Override PartName="/ppt/media/image53.png" ContentType="image/png"/>
  <Override PartName="/ppt/media/image55.png" ContentType="image/png"/>
  <Override PartName="/ppt/media/image60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65.png" ContentType="image/png"/>
  <Override PartName="/ppt/media/image66.png" ContentType="image/png"/>
  <Override PartName="/ppt/media/image67.png" ContentType="image/png"/>
  <Override PartName="/ppt/media/image68.png" ContentType="image/png"/>
  <Override PartName="/ppt/media/image69.png" ContentType="image/png"/>
  <Override PartName="/ppt/media/image70.png" ContentType="image/png"/>
  <Override PartName="/ppt/media/image74.png" ContentType="image/png"/>
  <Override PartName="/ppt/media/image76.png" ContentType="image/png"/>
  <Override PartName="/ppt/media/image101.jpeg" ContentType="image/jpeg"/>
  <Override PartName="/ppt/media/image77.png" ContentType="image/png"/>
  <Override PartName="/ppt/media/image78.jpeg" ContentType="image/jpeg"/>
  <Override PartName="/ppt/media/image79.png" ContentType="image/png"/>
  <Override PartName="/ppt/media/image80.png" ContentType="image/png"/>
  <Override PartName="/ppt/media/image81.png" ContentType="image/png"/>
  <Override PartName="/ppt/media/image82.png" ContentType="image/png"/>
  <Override PartName="/ppt/media/image83.png" ContentType="image/png"/>
  <Override PartName="/ppt/media/image84.png" ContentType="image/png"/>
  <Override PartName="/ppt/media/image85.png" ContentType="image/png"/>
  <Override PartName="/ppt/media/image86.png" ContentType="image/png"/>
  <Override PartName="/ppt/media/image102.jpeg" ContentType="image/jpeg"/>
  <Override PartName="/ppt/media/image87.png" ContentType="image/png"/>
  <Override PartName="/ppt/media/image88.png" ContentType="image/png"/>
  <Override PartName="/ppt/media/image89.png" ContentType="image/png"/>
  <Override PartName="/ppt/media/image90.png" ContentType="image/png"/>
  <Override PartName="/ppt/media/image91.png" ContentType="image/png"/>
  <Override PartName="/ppt/media/image92.png" ContentType="image/png"/>
  <Override PartName="/ppt/media/image93.png" ContentType="image/png"/>
  <Override PartName="/ppt/media/image94.jpeg" ContentType="image/jpeg"/>
  <Override PartName="/ppt/media/image95.png" ContentType="image/png"/>
  <Override PartName="/ppt/media/image96.png" ContentType="image/png"/>
  <Override PartName="/ppt/media/image97.png" ContentType="image/png"/>
  <Override PartName="/ppt/media/image98.png" ContentType="image/png"/>
  <Override PartName="/ppt/media/image99.png" ContentType="image/png"/>
  <Override PartName="/ppt/media/image103.png" ContentType="image/png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</p:sldIdLst>
  <p:sldSz cx="12192000" cy="6858000"/>
  <p:notesSz cx="10691812" cy="7559675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slide" Target="slides/slide75.xml"/><Relationship Id="rId80" Type="http://schemas.openxmlformats.org/officeDocument/2006/relationships/slide" Target="slides/slide76.xml"/><Relationship Id="rId81" Type="http://schemas.openxmlformats.org/officeDocument/2006/relationships/slide" Target="slides/slide77.xml"/><Relationship Id="rId82" Type="http://schemas.openxmlformats.org/officeDocument/2006/relationships/slide" Target="slides/slide78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80360" cy="2834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3110" spc="-1" strike="noStrike">
                <a:latin typeface="Arial"/>
              </a:rPr>
              <a:t>Click to move the slide</a:t>
            </a:r>
            <a:endParaRPr b="0" lang="en-US" sz="311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3600" cy="3402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990" spc="-1" strike="noStrike">
                <a:latin typeface="Arial"/>
              </a:rPr>
              <a:t>Click to edit the notes format</a:t>
            </a:r>
            <a:endParaRPr b="0" lang="en-US" sz="199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4640040" cy="377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dt"/>
          </p:nvPr>
        </p:nvSpPr>
        <p:spPr>
          <a:xfrm>
            <a:off x="6051960" y="0"/>
            <a:ext cx="4640040" cy="377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ftr"/>
          </p:nvPr>
        </p:nvSpPr>
        <p:spPr>
          <a:xfrm>
            <a:off x="0" y="7182000"/>
            <a:ext cx="4640040" cy="3776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sldNum"/>
          </p:nvPr>
        </p:nvSpPr>
        <p:spPr>
          <a:xfrm>
            <a:off x="6051960" y="7182000"/>
            <a:ext cx="4640040" cy="3776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00729117-AEF3-4F86-8FEA-5259673CF577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71.xml.rels><?xml version="1.0" encoding="UTF-8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
</Relationships>
</file>

<file path=ppt/notesSlides/_rels/notesSlide74.xml.rels><?xml version="1.0" encoding="UTF-8"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
</Relationships>
</file>

<file path=ppt/notesSlides/_rels/notesSlide75.xml.rels><?xml version="1.0" encoding="UTF-8"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78920" cy="2833920"/>
          </a:xfrm>
          <a:prstGeom prst="rect">
            <a:avLst/>
          </a:prstGeom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1800" cy="3400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1969: Arpanet precursor to the modern internet, created by US Defense Department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1993: largely thanks to the NCSA Mosaic browser which supported text and images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78920" cy="2833920"/>
          </a:xfrm>
          <a:prstGeom prst="rect">
            <a:avLst/>
          </a:prstGeom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1800" cy="3400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The 1993 milestone made people Happy: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- People could communicate with each other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- Access to an infinite amount of knowledge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- And access to an infinite amount of …. :-)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78920" cy="2833920"/>
          </a:xfrm>
          <a:prstGeom prst="rect">
            <a:avLst/>
          </a:prstGeom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1800" cy="3400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But then came the bad people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→ </a:t>
            </a:r>
            <a:r>
              <a:rPr b="0" lang="en-US" sz="2000" spc="-1" strike="noStrike">
                <a:latin typeface="Arial"/>
              </a:rPr>
              <a:t>because nothing was encrypted, a mitm (man in the middle) attack became an issue.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(We will look at the details of the problems later (slide 7))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78920" cy="2833920"/>
          </a:xfrm>
          <a:prstGeom prst="rect">
            <a:avLst/>
          </a:prstGeom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1800" cy="3400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And that made the Happy people Sad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78920" cy="2833920"/>
          </a:xfrm>
          <a:prstGeom prst="rect">
            <a:avLst/>
          </a:prstGeom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1800" cy="3400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This made the people happy again, because (see bullets)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78920" cy="2833920"/>
          </a:xfrm>
          <a:prstGeom prst="rect">
            <a:avLst/>
          </a:prstGeom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1800" cy="3400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We’ve been talking about SSL, but isn’t it called TLS? Or is that the same thing? Or different?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78920" cy="2833920"/>
          </a:xfrm>
          <a:prstGeom prst="rect">
            <a:avLst/>
          </a:prstGeom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1068840" y="3590640"/>
            <a:ext cx="8552160" cy="3400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SSL protocol and all it’s version are now considered insecure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red=very insecure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orange=deprecated, not really secure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green=good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78920" cy="2833920"/>
          </a:xfrm>
          <a:prstGeom prst="rect">
            <a:avLst/>
          </a:prstGeom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1800" cy="3400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This slide is here so you can briefly touch on the topic of quantum computers and the dangers they pose for today’s encryption, including https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At this point: just mention that TLS1.3 is Quantum Ready.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We will look at this table again later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78920" cy="2833920"/>
          </a:xfrm>
          <a:prstGeom prst="rect">
            <a:avLst/>
          </a:prstGeom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1800" cy="3400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Ftps is based on ftp, with ssl/tls added for encryption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(sftp=secure file transfer over ssh)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78920" cy="2833920"/>
          </a:xfrm>
          <a:prstGeom prst="rect">
            <a:avLst/>
          </a:prstGeom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1800" cy="3400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We do a small side-step into some encryption fundamentals first, in order to better understand the handshake explanation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78920" cy="2833920"/>
          </a:xfrm>
          <a:prstGeom prst="rect">
            <a:avLst/>
          </a:prstGeom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1800" cy="3400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What is a cipher?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  <a:ea typeface="Microsoft YaHei"/>
              </a:rPr>
              <a:t>Stating that ‘Encoding + secret key = encrypting’ is too simplistic, but high-over it does illustrate the roles nicely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78920" cy="2833920"/>
          </a:xfrm>
          <a:prstGeom prst="rect">
            <a:avLst/>
          </a:prstGeom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1800" cy="3400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At least, two that are important in the current context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79640" cy="2834280"/>
          </a:xfrm>
          <a:prstGeom prst="rect">
            <a:avLst/>
          </a:prstGeom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2520" cy="34012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Explain that it’s a matched set of cryptographic keys, where public key can be shared and used to encrypt messages.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80360" cy="2834640"/>
          </a:xfrm>
          <a:prstGeom prst="rect">
            <a:avLst/>
          </a:prstGeom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3600" cy="3402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Arial"/>
              </a:rPr>
              <a:t>Do a voice-over for this picture illustrating the classic case of Alice and Bob</a:t>
            </a:r>
            <a:endParaRPr b="0" lang="en-US" sz="1400" spc="-1" strike="noStrike"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78920" cy="2833920"/>
          </a:xfrm>
          <a:prstGeom prst="rect">
            <a:avLst/>
          </a:prstGeom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1800" cy="3400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What happens when we encrypt with the private key, is that possible?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→ </a:t>
            </a:r>
            <a:r>
              <a:rPr b="0" lang="en-US" sz="2000" spc="-1" strike="noStrike">
                <a:latin typeface="Arial"/>
              </a:rPr>
              <a:t>yes, that is possible, but then the usage changes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Encryption with public key: ensures confidentiality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Encryption with private key: for authentication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78920" cy="2833920"/>
          </a:xfrm>
          <a:prstGeom prst="rect">
            <a:avLst/>
          </a:prstGeom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1800" cy="3400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The first image is </a:t>
            </a:r>
            <a:r>
              <a:rPr b="1" lang="en-US" sz="2000" spc="-1" strike="noStrike">
                <a:latin typeface="Arial"/>
              </a:rPr>
              <a:t>not</a:t>
            </a:r>
            <a:r>
              <a:rPr b="0" lang="en-US" sz="2000" spc="-1" strike="noStrike">
                <a:latin typeface="Arial"/>
              </a:rPr>
              <a:t> of a real TLS handshake.It is an example of a handshake where a malicious user can read what is being exchanged. By showing this problem, it will be easier to understand the actual handshake.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After that follows the actual TLS 1.2 handshake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1.2 is used because it is easier to understand then 1.3. TLS 1.3 is optimized (more efficient), but basically does the same things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78920" cy="2833920"/>
          </a:xfrm>
          <a:prstGeom prst="rect">
            <a:avLst/>
          </a:prstGeom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1068840" y="3590640"/>
            <a:ext cx="8552160" cy="3400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Problem with TLS1.2 is that it depends on RSA, ECDH &amp; ECDSA, which are not quantum safe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Symmetric key (p.e. AES) is not as vulnerable – we simply need to increase their length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TLS1.3 is quantum ready, but not yet quantum safe.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PQC = Post Quantum Cryptography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78920" cy="2833920"/>
          </a:xfrm>
          <a:prstGeom prst="rect">
            <a:avLst/>
          </a:prstGeom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1800" cy="3400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An http(s) request consists of these parts, if you look purely at the url and data that is sent on layer 7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Before proceeding, ask the audience which parts they think are encrypted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78920" cy="2833920"/>
          </a:xfrm>
          <a:prstGeom prst="rect">
            <a:avLst/>
          </a:prstGeom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1800" cy="3400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Which parts are encrypted: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- red: not encrypted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- orange: depends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- green: is encrypted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Why it depends for the domain name is something we will see later!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78920" cy="2833920"/>
          </a:xfrm>
          <a:prstGeom prst="rect">
            <a:avLst/>
          </a:prstGeom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1800" cy="3400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That concludes the first part.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Now we move on to Certifcates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80360" cy="2834640"/>
          </a:xfrm>
          <a:prstGeom prst="rect">
            <a:avLst/>
          </a:prstGeom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3600" cy="3402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Arial"/>
              </a:rPr>
              <a:t>This answers the question from the perspective of what you see when you open it in your browser.</a:t>
            </a:r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latin typeface="Arial"/>
              </a:rPr>
              <a:t>(but of course that doesn’t really answer the question)</a:t>
            </a:r>
            <a:endParaRPr b="0" lang="en-US" sz="1400" spc="-1" strike="noStrike">
              <a:latin typeface="Arial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78920" cy="2833920"/>
          </a:xfrm>
          <a:prstGeom prst="rect">
            <a:avLst/>
          </a:prstGeom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1800" cy="3400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What is a certificate </a:t>
            </a:r>
            <a:r>
              <a:rPr b="1" i="1" lang="en-US" sz="2000" spc="-1" strike="noStrike">
                <a:latin typeface="Arial"/>
              </a:rPr>
              <a:t>really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The previous slide didn’t really answer the question; from here on we’re going to explain it with technical understanding.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Based on the information you give, a CSR (Certificate Signing Request) is generated along a private key. The public key is embedded in the CSR (and you can extract it if you want to).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The private key can optionally be protected by a passphase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78920" cy="2833920"/>
          </a:xfrm>
          <a:prstGeom prst="rect">
            <a:avLst/>
          </a:prstGeom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1800" cy="3400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The trust in the CA that signed it is something we will explain in more detail later</a:t>
            </a: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Server vs Client : not only servers have certificates, clients can also have them to prove to a server who they are (can be used as an extra factor for example to get access to a company portal)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78920" cy="2833920"/>
          </a:xfrm>
          <a:prstGeom prst="rect">
            <a:avLst/>
          </a:prstGeom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1800" cy="3400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Why do we call it ssl certificats – didn’t we say ssl was old and insecure?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78920" cy="2833920"/>
          </a:xfrm>
          <a:prstGeom prst="rect">
            <a:avLst/>
          </a:prstGeom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1800" cy="3400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2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We said we can trust a certificate because it is signed by a CA, but how does that trust really work?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80360" cy="2834640"/>
          </a:xfrm>
          <a:prstGeom prst="rect">
            <a:avLst/>
          </a:prstGeom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3600" cy="3402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Arial"/>
              </a:rPr>
              <a:t>Example of a chain</a:t>
            </a:r>
            <a:endParaRPr b="0" lang="en-US" sz="1400" spc="-1" strike="noStrike">
              <a:latin typeface="Arial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80360" cy="2834640"/>
          </a:xfrm>
          <a:prstGeom prst="rect">
            <a:avLst/>
          </a:prstGeom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3600" cy="3402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Arial"/>
              </a:rPr>
              <a:t>This visualizes how the trust works</a:t>
            </a:r>
            <a:endParaRPr b="0" lang="en-US" sz="1400" spc="-1" strike="noStrike">
              <a:latin typeface="Arial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80360" cy="2834640"/>
          </a:xfrm>
          <a:prstGeom prst="rect">
            <a:avLst/>
          </a:prstGeom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3600" cy="3402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Arial"/>
              </a:rPr>
              <a:t>This is what it looks like when you use openssl.</a:t>
            </a:r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latin typeface="Arial"/>
              </a:rPr>
              <a:t>The pics on the left are the most important parts from the pic on the right, but zoomed in </a:t>
            </a:r>
            <a:endParaRPr b="0" lang="en-US" sz="1400" spc="-1" strike="noStrike">
              <a:latin typeface="Arial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80360" cy="2834640"/>
          </a:xfrm>
          <a:prstGeom prst="rect">
            <a:avLst/>
          </a:prstGeom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3600" cy="3402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Arial"/>
              </a:rPr>
              <a:t>We’re going to explain these 3 validation topics</a:t>
            </a:r>
            <a:endParaRPr b="0" lang="en-US" sz="1400" spc="-1" strike="noStrike">
              <a:latin typeface="Arial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80360" cy="2834640"/>
          </a:xfrm>
          <a:prstGeom prst="rect">
            <a:avLst/>
          </a:prstGeom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3600" cy="3402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Arial"/>
              </a:rPr>
              <a:t>Difference is visible used to be an argument, but nowadays browsers don’t display it anymore.</a:t>
            </a:r>
            <a:endParaRPr b="0" lang="en-US" sz="1400" spc="-1" strike="noStrike">
              <a:latin typeface="Arial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80000" cy="2834280"/>
          </a:xfrm>
          <a:prstGeom prst="rect">
            <a:avLst/>
          </a:prstGeom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2880" cy="3401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OID stands for Object Identifier.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The number highlighted indicates this is an OV certificate: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- 2.23.140.1.2.1 → Domain Validated (DV)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- 2.23.140.1.2.2 → Organization Validated (OV)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- 2.23.140.1.1 → Extended Validation (EV) certificate policy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80360" cy="2834640"/>
          </a:xfrm>
          <a:prstGeom prst="rect">
            <a:avLst/>
          </a:prstGeom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3600" cy="3402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Arial"/>
              </a:rPr>
              <a:t>Private CAs are not trusted out of the box and this is the error you will see (more or less, depending on your browser) when it’s not trusted yet.</a:t>
            </a:r>
            <a:endParaRPr b="0" lang="en-US" sz="1400" spc="-1" strike="noStrike">
              <a:latin typeface="Arial"/>
            </a:endParaRPr>
          </a:p>
          <a:p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latin typeface="Arial"/>
              </a:rPr>
              <a:t>How to trust it? The next slides will explain that</a:t>
            </a:r>
            <a:endParaRPr b="0" lang="en-US" sz="1400" spc="-1" strike="noStrike">
              <a:latin typeface="Arial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80360" cy="2834640"/>
          </a:xfrm>
          <a:prstGeom prst="rect">
            <a:avLst/>
          </a:prstGeom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3600" cy="3402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Arial"/>
              </a:rPr>
              <a:t>You should really only use a SAN when the same website can be accessed with multiple domains. You should not use it out of convenience to serve different things with 1 certificate. The picture shows bad usage (this is an old example, they don’t do it anymore)</a:t>
            </a:r>
            <a:endParaRPr b="0" lang="en-US" sz="1400" spc="-1" strike="noStrike">
              <a:latin typeface="Arial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80360" cy="2834640"/>
          </a:xfrm>
          <a:prstGeom prst="rect">
            <a:avLst/>
          </a:prstGeom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3600" cy="3402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Arial"/>
              </a:rPr>
              <a:t>To finish this, we want to touch on some subjects that are closely related to https </a:t>
            </a:r>
            <a:endParaRPr b="0" lang="en-US" sz="1400" spc="-1" strike="noStrike">
              <a:latin typeface="Arial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80360" cy="2834640"/>
          </a:xfrm>
          <a:prstGeom prst="rect">
            <a:avLst/>
          </a:prstGeom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3600" cy="3402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Arial"/>
              </a:rPr>
              <a:t>This is a reference to the slide where we showed which part of a request are encrypted.</a:t>
            </a:r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latin typeface="Arial"/>
              </a:rPr>
              <a:t>Remember we said it depends for the Domain Name and that later we would explain why? This is the slide that explains it.</a:t>
            </a:r>
            <a:endParaRPr b="0" lang="en-US" sz="1400" spc="-1" strike="noStrike">
              <a:latin typeface="Arial"/>
            </a:endParaRPr>
          </a:p>
          <a:p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latin typeface="Arial"/>
              </a:rPr>
              <a:t>HTTP headers are encrypted, so the domain name in those headers are too</a:t>
            </a:r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latin typeface="Arial"/>
              </a:rPr>
              <a:t>But SNI is/was unencrypted, so that request exposed the domain you were requesting</a:t>
            </a:r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latin typeface="Arial"/>
              </a:rPr>
              <a:t>Encrypted SNI fixes that.</a:t>
            </a:r>
            <a:endParaRPr b="0" lang="en-US" sz="1400" spc="-1" strike="noStrike">
              <a:latin typeface="Arial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80000" cy="2834280"/>
          </a:xfrm>
          <a:prstGeom prst="rect">
            <a:avLst/>
          </a:prstGeom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1068840" y="3590640"/>
            <a:ext cx="8553240" cy="3401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A question to see if they’ve been paying attention. If they have, they might be able to solve it.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Why is there a mismatch even though the servername has been indicated?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Because of Subject Alternative Names. The .nl domain name must be a SAN of this certificate (and is of course, if you look at the complete certificate)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80360" cy="2834640"/>
          </a:xfrm>
          <a:prstGeom prst="rect">
            <a:avLst/>
          </a:prstGeom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3600" cy="3402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Arial"/>
              </a:rPr>
              <a:t>Pinning is still quite popular in mobile applications though!</a:t>
            </a:r>
            <a:endParaRPr b="0" lang="en-US" sz="1400" spc="-1" strike="noStrike">
              <a:latin typeface="Arial"/>
            </a:endParaRPr>
          </a:p>
        </p:txBody>
      </p:sp>
    </p:spTree>
  </p:cSld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79640" cy="2834280"/>
          </a:xfrm>
          <a:prstGeom prst="rect">
            <a:avLst/>
          </a:prstGeom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2520" cy="34012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CAA = Certificate Authority Authorization</a:t>
            </a:r>
            <a:endParaRPr b="0" lang="en-U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CAA records can include an “iodef” (Incident Object Description Exchange Format) tag.</a:t>
            </a:r>
            <a:endParaRPr b="0" lang="en-U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This lets you specify an email or URL where a CA should report problems — like if someone tries to get a certificate for your domain without permission.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305280" y="574200"/>
            <a:ext cx="10080360" cy="2834640"/>
          </a:xfrm>
          <a:prstGeom prst="rect">
            <a:avLst/>
          </a:prstGeom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1069200" y="3590640"/>
            <a:ext cx="8553600" cy="3402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Arial"/>
              </a:rPr>
              <a:t>No need for a voice over. It’s just meant as a funny last slide</a:t>
            </a:r>
            <a:endParaRPr b="0" lang="en-US" sz="14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11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11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11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11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11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11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11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11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11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11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11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11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11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11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11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11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11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11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11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11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3110" spc="-1" strike="noStrike">
                <a:latin typeface="Arial"/>
              </a:rPr>
              <a:t>Click to edit the title text format</a:t>
            </a:r>
            <a:endParaRPr b="0" lang="en-US" sz="311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3110" spc="-1" strike="noStrike">
                <a:latin typeface="Arial"/>
              </a:rPr>
              <a:t>Click to edit the title text format</a:t>
            </a:r>
            <a:endParaRPr b="0" lang="en-US" sz="311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microsoft.com/office/2007/relationships/hdphoto" Target="../media/hdphoto1.wdp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slideLayout" Target="../slideLayouts/slideLayout13.xml"/><Relationship Id="rId10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1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1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slideLayout" Target="../slideLayouts/slideLayout1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13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slideLayout" Target="../slideLayouts/slideLayout13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slideLayout" Target="../slideLayouts/slideLayout13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slideLayout" Target="../slideLayouts/slideLayout13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slideLayout" Target="../slideLayouts/slideLayout13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70.png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slideLayout" Target="../slideLayouts/slideLayout13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73.png"/><Relationship Id="rId2" Type="http://schemas.openxmlformats.org/officeDocument/2006/relationships/image" Target="../media/image74.png"/><Relationship Id="rId3" Type="http://schemas.openxmlformats.org/officeDocument/2006/relationships/slideLayout" Target="../slideLayouts/slideLayout13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75.png"/><Relationship Id="rId2" Type="http://schemas.openxmlformats.org/officeDocument/2006/relationships/slideLayout" Target="../slideLayouts/slideLayout13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76.png"/><Relationship Id="rId2" Type="http://schemas.openxmlformats.org/officeDocument/2006/relationships/image" Target="../media/image77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78.jpeg"/><Relationship Id="rId2" Type="http://schemas.openxmlformats.org/officeDocument/2006/relationships/slideLayout" Target="../slideLayouts/slideLayout13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79.png"/><Relationship Id="rId2" Type="http://schemas.openxmlformats.org/officeDocument/2006/relationships/slideLayout" Target="../slideLayouts/slideLayout1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80.png"/><Relationship Id="rId2" Type="http://schemas.openxmlformats.org/officeDocument/2006/relationships/image" Target="../media/image81.png"/><Relationship Id="rId3" Type="http://schemas.openxmlformats.org/officeDocument/2006/relationships/slideLayout" Target="../slideLayouts/slideLayout13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82.png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85.png"/><Relationship Id="rId2" Type="http://schemas.openxmlformats.org/officeDocument/2006/relationships/slideLayout" Target="../slideLayouts/slideLayout13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86.png"/><Relationship Id="rId2" Type="http://schemas.openxmlformats.org/officeDocument/2006/relationships/image" Target="../media/image87.png"/><Relationship Id="rId3" Type="http://schemas.openxmlformats.org/officeDocument/2006/relationships/slideLayout" Target="../slideLayouts/slideLayout13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image" Target="../media/image88.png"/><Relationship Id="rId2" Type="http://schemas.openxmlformats.org/officeDocument/2006/relationships/slideLayout" Target="../slideLayouts/slideLayout13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image" Target="../media/image89.png"/><Relationship Id="rId2" Type="http://schemas.openxmlformats.org/officeDocument/2006/relationships/image" Target="../media/image90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7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image" Target="../media/image91.png"/><Relationship Id="rId2" Type="http://schemas.openxmlformats.org/officeDocument/2006/relationships/slideLayout" Target="../slideLayouts/slideLayout13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image" Target="../media/image9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4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image" Target="../media/image93.png"/><Relationship Id="rId2" Type="http://schemas.openxmlformats.org/officeDocument/2006/relationships/image" Target="../media/image94.jpeg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Relationship Id="rId9" Type="http://schemas.openxmlformats.org/officeDocument/2006/relationships/image" Target="../media/image101.jpeg"/><Relationship Id="rId10" Type="http://schemas.openxmlformats.org/officeDocument/2006/relationships/image" Target="../media/image102.jpeg"/><Relationship Id="rId11" Type="http://schemas.openxmlformats.org/officeDocument/2006/relationships/slideLayout" Target="../slideLayouts/slideLayout13.xml"/><Relationship Id="rId12" Type="http://schemas.openxmlformats.org/officeDocument/2006/relationships/notesSlide" Target="../notesSlides/notesSlide75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image" Target="../media/image103.png"/><Relationship Id="rId2" Type="http://schemas.openxmlformats.org/officeDocument/2006/relationships/slideLayout" Target="../slideLayouts/slideLayout13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hyperlink" Target="https://www.ssllabs.com/ssltest/" TargetMode="External"/><Relationship Id="rId2" Type="http://schemas.openxmlformats.org/officeDocument/2006/relationships/hyperlink" Target="https://github.com/bitnesswise/https-mindmap" TargetMode="External"/><Relationship Id="rId3" Type="http://schemas.openxmlformats.org/officeDocument/2006/relationships/slideLayout" Target="../slideLayouts/slideLayout13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hyperlink" Target="https://github.com/bitnesswise/https-presentation" TargetMode="External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4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CrisscrossEtching/>
                    </a14:imgEffect>
                  </a14:imgLayer>
                </a14:imgProps>
              </a:ext>
            </a:extLst>
          </a:blip>
          <a:stretch/>
        </p:blipFill>
        <p:spPr>
          <a:xfrm>
            <a:off x="2623680" y="42480"/>
            <a:ext cx="6943320" cy="6771960"/>
          </a:xfrm>
          <a:prstGeom prst="rect">
            <a:avLst/>
          </a:prstGeom>
          <a:ln w="0">
            <a:noFill/>
          </a:ln>
          <a:effectLst>
            <a:softEdge rad="635040"/>
          </a:effectLst>
        </p:spPr>
      </p:pic>
      <p:sp>
        <p:nvSpPr>
          <p:cNvPr id="83" name="CustomShape 1"/>
          <p:cNvSpPr/>
          <p:nvPr/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>
              <a:lnSpc>
                <a:spcPct val="90000"/>
              </a:lnSpc>
            </a:pPr>
            <a:r>
              <a:rPr b="1" lang="nl-NL" sz="7200" spc="-1" strike="noStrike">
                <a:solidFill>
                  <a:srgbClr val="70ad47"/>
                </a:solidFill>
                <a:latin typeface="Calibri Light"/>
                <a:ea typeface="DejaVu Sans"/>
              </a:rPr>
              <a:t>The magic behind https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1523880" y="3602160"/>
            <a:ext cx="9142560" cy="16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CustomShape 3"/>
          <p:cNvSpPr/>
          <p:nvPr/>
        </p:nvSpPr>
        <p:spPr>
          <a:xfrm>
            <a:off x="6705720" y="6400800"/>
            <a:ext cx="548604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1400" spc="-1" strike="noStrike">
                <a:latin typeface="Arial"/>
              </a:rPr>
              <a:t>https://github.com/bitnesswise/the-magic-behind-https · CC BY 4.0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In the beginning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7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1969 - Arpanet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1972 - Email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1983 - DNS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1993 - Internet</a:t>
            </a:r>
            <a:br/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becomes browsable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88" name="Picture 4" descr=""/>
          <p:cNvPicPr/>
          <p:nvPr/>
        </p:nvPicPr>
        <p:blipFill>
          <a:blip r:embed="rId1"/>
          <a:stretch/>
        </p:blipFill>
        <p:spPr>
          <a:xfrm>
            <a:off x="4297680" y="2673360"/>
            <a:ext cx="7054920" cy="3637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Happy people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90" name="Content Placeholder 10" descr=""/>
          <p:cNvPicPr/>
          <p:nvPr/>
        </p:nvPicPr>
        <p:blipFill>
          <a:blip r:embed="rId1"/>
          <a:stretch/>
        </p:blipFill>
        <p:spPr>
          <a:xfrm>
            <a:off x="757800" y="1506960"/>
            <a:ext cx="2856240" cy="1684440"/>
          </a:xfrm>
          <a:prstGeom prst="rect">
            <a:avLst/>
          </a:prstGeom>
          <a:ln w="0">
            <a:noFill/>
          </a:ln>
        </p:spPr>
      </p:pic>
      <p:pic>
        <p:nvPicPr>
          <p:cNvPr id="91" name="Picture 12" descr=""/>
          <p:cNvPicPr/>
          <p:nvPr/>
        </p:nvPicPr>
        <p:blipFill>
          <a:blip r:embed="rId2"/>
          <a:stretch/>
        </p:blipFill>
        <p:spPr>
          <a:xfrm>
            <a:off x="7150680" y="668880"/>
            <a:ext cx="3678840" cy="2758680"/>
          </a:xfrm>
          <a:prstGeom prst="rect">
            <a:avLst/>
          </a:prstGeom>
          <a:ln w="0">
            <a:noFill/>
          </a:ln>
        </p:spPr>
      </p:pic>
      <p:pic>
        <p:nvPicPr>
          <p:cNvPr id="92" name="Picture 14" descr=""/>
          <p:cNvPicPr/>
          <p:nvPr/>
        </p:nvPicPr>
        <p:blipFill>
          <a:blip r:embed="rId3"/>
          <a:stretch/>
        </p:blipFill>
        <p:spPr>
          <a:xfrm>
            <a:off x="1840680" y="3429000"/>
            <a:ext cx="3199320" cy="2970720"/>
          </a:xfrm>
          <a:prstGeom prst="rect">
            <a:avLst/>
          </a:prstGeom>
          <a:ln w="0">
            <a:noFill/>
          </a:ln>
        </p:spPr>
      </p:pic>
      <p:pic>
        <p:nvPicPr>
          <p:cNvPr id="93" name="" descr=""/>
          <p:cNvPicPr/>
          <p:nvPr/>
        </p:nvPicPr>
        <p:blipFill>
          <a:blip r:embed="rId4"/>
          <a:stretch/>
        </p:blipFill>
        <p:spPr>
          <a:xfrm>
            <a:off x="7315200" y="3429000"/>
            <a:ext cx="2970720" cy="2970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" dur="indefinite" restart="never" nodeType="tmRoot">
          <p:childTnLst>
            <p:seq>
              <p:cTn id="28" dur="indefinite" nodeType="mainSeq">
                <p:childTnLst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Bad people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95" name="Content Placeholder 4" descr=""/>
          <p:cNvPicPr/>
          <p:nvPr/>
        </p:nvPicPr>
        <p:blipFill>
          <a:blip r:embed="rId1"/>
          <a:stretch/>
        </p:blipFill>
        <p:spPr>
          <a:xfrm>
            <a:off x="2179080" y="1825560"/>
            <a:ext cx="7832880" cy="434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Sad people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97" name="Content Placeholder 4" descr=""/>
          <p:cNvPicPr/>
          <p:nvPr/>
        </p:nvPicPr>
        <p:blipFill>
          <a:blip r:embed="rId1"/>
          <a:stretch/>
        </p:blipFill>
        <p:spPr>
          <a:xfrm>
            <a:off x="5024520" y="2929680"/>
            <a:ext cx="2141640" cy="214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Enter SSL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9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1994, Mozilla created https for Netscape Navigator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1995, SSL 2.0 (SSLv2) was released to the public </a:t>
            </a:r>
            <a:r>
              <a:rPr b="0" lang="nl-NL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(followed by SSLv3 in 1996)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00" name="Picture 4" descr=""/>
          <p:cNvPicPr/>
          <p:nvPr/>
        </p:nvPicPr>
        <p:blipFill>
          <a:blip r:embed="rId1"/>
          <a:stretch/>
        </p:blipFill>
        <p:spPr>
          <a:xfrm>
            <a:off x="4168440" y="3225240"/>
            <a:ext cx="3266280" cy="3266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" dur="indefinite" restart="never" nodeType="tmRoot">
          <p:childTnLst>
            <p:seq>
              <p:cTn id="42" dur="indefinite" nodeType="mainSeq">
                <p:childTnLst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Why use (ssl) encrypted communication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02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1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No one can read your message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No one has changed your message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You are communicating with the intended person (server)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latin typeface="Arial"/>
            </a:endParaRPr>
          </a:p>
        </p:txBody>
      </p:sp>
      <p:pic>
        <p:nvPicPr>
          <p:cNvPr id="103" name="Picture 4" descr=""/>
          <p:cNvPicPr/>
          <p:nvPr/>
        </p:nvPicPr>
        <p:blipFill>
          <a:blip r:embed="rId1"/>
          <a:stretch/>
        </p:blipFill>
        <p:spPr>
          <a:xfrm>
            <a:off x="4564440" y="2026080"/>
            <a:ext cx="2856240" cy="168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7" dur="indefinite" restart="never" nodeType="tmRoot">
          <p:childTnLst>
            <p:seq>
              <p:cTn id="48" dur="indefinite" nodeType="mainSeq">
                <p:childTnLst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3" dur="500" fill="hold"/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" dur="500" fill="hold"/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9" dur="500" fill="hold"/>
                                        <p:tgtEl>
                                          <p:spTgt spid="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" dur="500" fill="hold"/>
                                        <p:tgtEl>
                                          <p:spTgt spid="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5" dur="500" fill="hold"/>
                                        <p:tgtEl>
                                          <p:spTgt spid="1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" dur="500" fill="hold"/>
                                        <p:tgtEl>
                                          <p:spTgt spid="1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(ssl) encrypted communication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05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nl-NL" sz="7200" spc="-1" strike="noStrike">
                <a:solidFill>
                  <a:srgbClr val="000000"/>
                </a:solidFill>
                <a:latin typeface="Calibri"/>
                <a:ea typeface="DejaVu Sans"/>
              </a:rPr>
              <a:t>TLS?</a:t>
            </a:r>
            <a:endParaRPr b="0" lang="en-US" sz="7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SSL / TLS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07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2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nl-NL" sz="3600" spc="-1" strike="noStrike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ecure </a:t>
            </a:r>
            <a:r>
              <a:rPr b="1" lang="nl-NL" sz="3600" spc="-1" strike="noStrike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ockets </a:t>
            </a:r>
            <a:r>
              <a:rPr b="1" lang="nl-NL" sz="3600" spc="-1" strike="noStrike">
                <a:solidFill>
                  <a:srgbClr val="000000"/>
                </a:solidFill>
                <a:latin typeface="Calibri"/>
                <a:ea typeface="DejaVu Sans"/>
              </a:rPr>
              <a:t>L</a:t>
            </a: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ayer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2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nl-NL" sz="3600" spc="-1" strike="noStrike">
                <a:solidFill>
                  <a:srgbClr val="000000"/>
                </a:solidFill>
                <a:latin typeface="Calibri"/>
                <a:ea typeface="DejaVu Sans"/>
              </a:rPr>
              <a:t>T</a:t>
            </a: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ransport </a:t>
            </a:r>
            <a:r>
              <a:rPr b="1" lang="nl-NL" sz="3600" spc="-1" strike="noStrike">
                <a:solidFill>
                  <a:srgbClr val="000000"/>
                </a:solidFill>
                <a:latin typeface="Calibri"/>
                <a:ea typeface="DejaVu Sans"/>
              </a:rPr>
              <a:t>L</a:t>
            </a: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ayer </a:t>
            </a:r>
            <a:r>
              <a:rPr b="1" lang="nl-NL" sz="3600" spc="-1" strike="noStrike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ecurity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2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SSL is the predecessor of TLS and now deprecated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08" name="Picture 4" descr=""/>
          <p:cNvPicPr/>
          <p:nvPr/>
        </p:nvPicPr>
        <p:blipFill>
          <a:blip r:embed="rId1"/>
          <a:stretch/>
        </p:blipFill>
        <p:spPr>
          <a:xfrm>
            <a:off x="7273080" y="1987920"/>
            <a:ext cx="4079160" cy="2880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sngStrike">
                <a:solidFill>
                  <a:srgbClr val="000000"/>
                </a:solidFill>
                <a:latin typeface="Calibri Light"/>
                <a:ea typeface="DejaVu Sans"/>
              </a:rPr>
              <a:t>SSL</a:t>
            </a: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 / TLS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0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SSL Versions</a:t>
            </a: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ff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ff0000"/>
                </a:solidFill>
                <a:latin typeface="Calibri"/>
                <a:ea typeface="DejaVu Sans"/>
              </a:rPr>
              <a:t>SSLv2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ff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ff0000"/>
                </a:solidFill>
                <a:latin typeface="Calibri"/>
                <a:ea typeface="DejaVu Sans"/>
              </a:rPr>
              <a:t>SSLv3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ffc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ffc000"/>
                </a:solidFill>
                <a:latin typeface="Calibri"/>
                <a:ea typeface="DejaVu Sans"/>
              </a:rPr>
              <a:t>TLS1.0 (SSLv4)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ffc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ffc000"/>
                </a:solidFill>
                <a:latin typeface="Calibri"/>
                <a:ea typeface="DejaVu Sans"/>
              </a:rPr>
              <a:t>TLS1.1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b05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b050"/>
                </a:solidFill>
                <a:latin typeface="Calibri"/>
                <a:ea typeface="DejaVu Sans"/>
              </a:rPr>
              <a:t>TLS1.2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b05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b050"/>
                </a:solidFill>
                <a:latin typeface="Calibri"/>
                <a:ea typeface="DejaVu Sans"/>
              </a:rPr>
              <a:t>TLS1.3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7" dur="indefinite" restart="never" nodeType="tmRoot">
          <p:childTnLst>
            <p:seq>
              <p:cTn id="68" dur="indefinite" nodeType="mainSeq"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3" dur="500" fill="hold"/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4" dur="500" fill="hold"/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8" dur="500" fill="hold"/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9" dur="500" fill="hold"/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3" dur="500" fill="hold"/>
                                        <p:tgtEl>
                                          <p:spTgt spid="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4" dur="500" fill="hold"/>
                                        <p:tgtEl>
                                          <p:spTgt spid="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8" dur="500" fill="hold"/>
                                        <p:tgtEl>
                                          <p:spTgt spid="1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9" dur="500" fill="hold"/>
                                        <p:tgtEl>
                                          <p:spTgt spid="1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000"/>
                            </p:stCondLst>
                            <p:childTnLst>
                              <p:par>
                                <p:cTn id="91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3" dur="500" fill="hold"/>
                                        <p:tgtEl>
                                          <p:spTgt spid="1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4" dur="500" fill="hold"/>
                                        <p:tgtEl>
                                          <p:spTgt spid="1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500"/>
                            </p:stCondLst>
                            <p:childTnLst>
                              <p:par>
                                <p:cTn id="96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8" dur="500" fill="hold"/>
                                        <p:tgtEl>
                                          <p:spTgt spid="1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9" dur="500" fill="hold"/>
                                        <p:tgtEl>
                                          <p:spTgt spid="1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Small quantum deepdive</a:t>
            </a:r>
            <a:endParaRPr b="0" lang="en-US" sz="4400" spc="-1" strike="noStrike">
              <a:latin typeface="Arial"/>
            </a:endParaRPr>
          </a:p>
        </p:txBody>
      </p:sp>
      <p:graphicFrame>
        <p:nvGraphicFramePr>
          <p:cNvPr id="112" name="Table 2"/>
          <p:cNvGraphicFramePr/>
          <p:nvPr/>
        </p:nvGraphicFramePr>
        <p:xfrm>
          <a:off x="3134160" y="2363400"/>
          <a:ext cx="5923800" cy="2431440"/>
        </p:xfrm>
        <a:graphic>
          <a:graphicData uri="http://schemas.openxmlformats.org/drawingml/2006/table">
            <a:tbl>
              <a:tblPr/>
              <a:tblGrid>
                <a:gridCol w="1974240"/>
                <a:gridCol w="1974240"/>
                <a:gridCol w="1975680"/>
              </a:tblGrid>
              <a:tr h="5018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Protocol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  <a:ea typeface="Microsoft YaHei"/>
                        </a:rPr>
                        <a:t>Quantum Ready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  <a:ea typeface="Microsoft YaHei"/>
                        </a:rPr>
                        <a:t>Quantum Safe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9644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TLS 1.2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❌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❌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9655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TLS 1.3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✅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❌ </a:t>
                      </a:r>
                      <a:r>
                        <a:rPr b="0" lang="en-US" sz="1800" spc="-1" strike="noStrike">
                          <a:latin typeface="Arial"/>
                        </a:rPr>
                        <a:t>(yet)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TLS is used in/for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4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Used in combination with other protocols to form:</a:t>
            </a: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HTTPS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FTPS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Secure Email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OpenVPN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5" name="Picture 4" descr=""/>
          <p:cNvPicPr/>
          <p:nvPr/>
        </p:nvPicPr>
        <p:blipFill>
          <a:blip r:embed="rId1"/>
          <a:stretch/>
        </p:blipFill>
        <p:spPr>
          <a:xfrm>
            <a:off x="8264880" y="4695840"/>
            <a:ext cx="1298880" cy="1298880"/>
          </a:xfrm>
          <a:prstGeom prst="rect">
            <a:avLst/>
          </a:prstGeom>
          <a:ln w="0">
            <a:noFill/>
          </a:ln>
        </p:spPr>
      </p:pic>
      <p:pic>
        <p:nvPicPr>
          <p:cNvPr id="116" name="Picture 6" descr=""/>
          <p:cNvPicPr/>
          <p:nvPr/>
        </p:nvPicPr>
        <p:blipFill>
          <a:blip r:embed="rId2"/>
          <a:stretch/>
        </p:blipFill>
        <p:spPr>
          <a:xfrm>
            <a:off x="6095880" y="2353320"/>
            <a:ext cx="2149920" cy="2149920"/>
          </a:xfrm>
          <a:prstGeom prst="rect">
            <a:avLst/>
          </a:prstGeom>
          <a:ln w="0">
            <a:noFill/>
          </a:ln>
        </p:spPr>
      </p:pic>
      <p:pic>
        <p:nvPicPr>
          <p:cNvPr id="117" name="Picture 10" descr=""/>
          <p:cNvPicPr/>
          <p:nvPr/>
        </p:nvPicPr>
        <p:blipFill>
          <a:blip r:embed="rId3"/>
          <a:stretch/>
        </p:blipFill>
        <p:spPr>
          <a:xfrm>
            <a:off x="3398400" y="4695840"/>
            <a:ext cx="2696400" cy="75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0" dur="indefinite" restart="never" nodeType="tmRoot">
          <p:childTnLst>
            <p:seq>
              <p:cTn id="101" dur="indefinite" nodeType="mainSeq"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6" dur="500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" dur="500"/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4" dur="500"/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16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8" dur="500"/>
                                        <p:tgtEl>
                                          <p:spTgt spid="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000"/>
                            </p:stCondLst>
                            <p:childTnLst>
                              <p:par>
                                <p:cTn id="120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2" dur="500"/>
                                        <p:tgtEl>
                                          <p:spTgt spid="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TLS Protocol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9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What does it really do?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It consists of two parts:</a:t>
            </a: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TLS handshake layer</a:t>
            </a:r>
            <a:endParaRPr b="0" lang="en-US" sz="2400" spc="-1" strike="noStrike">
              <a:latin typeface="Arial"/>
            </a:endParaRPr>
          </a:p>
          <a:p>
            <a:pPr lvl="2" marL="11430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This process is performed only once to establish a secure network connection for both parties.</a:t>
            </a:r>
            <a:endParaRPr b="0" lang="en-US" sz="20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TLS record layer</a:t>
            </a:r>
            <a:endParaRPr b="0" lang="en-US" sz="2400" spc="-1" strike="noStrike">
              <a:latin typeface="Arial"/>
            </a:endParaRPr>
          </a:p>
          <a:p>
            <a:pPr lvl="2" marL="11430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Gets data from the user applications, encrypts it, fragments it to an appropriate size (as determined by the cipher), and sends it to the network transport layer.</a:t>
            </a:r>
            <a:endParaRPr b="0" lang="en-US" sz="2000" spc="-1" strike="noStrike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pic>
        <p:nvPicPr>
          <p:cNvPr id="120" name="Picture 4" descr=""/>
          <p:cNvPicPr/>
          <p:nvPr/>
        </p:nvPicPr>
        <p:blipFill>
          <a:blip r:embed="rId1"/>
          <a:stretch/>
        </p:blipFill>
        <p:spPr>
          <a:xfrm>
            <a:off x="9414000" y="681120"/>
            <a:ext cx="1739520" cy="1616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3" dur="indefinite" restart="never" nodeType="tmRoot">
          <p:childTnLst>
            <p:seq>
              <p:cTn id="124" dur="indefinite" nodeType="mainSeq"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algn="ctr">
              <a:lnSpc>
                <a:spcPct val="90000"/>
              </a:lnSpc>
              <a:spcBef>
                <a:spcPts val="1001"/>
              </a:spcBef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nl-NL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But before we begin ……..</a:t>
            </a:r>
            <a:endParaRPr b="0" lang="en-US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Cipher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838080" y="1825560"/>
            <a:ext cx="564840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marL="228600" indent="-22716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An algorithm to encode or decode data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Secret key ensures the result is always different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Encoding + secret key = </a:t>
            </a:r>
            <a:r>
              <a:rPr b="1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encrypting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24999"/>
              </a:spcBef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latin typeface="Arial"/>
            </a:endParaRPr>
          </a:p>
        </p:txBody>
      </p:sp>
      <p:pic>
        <p:nvPicPr>
          <p:cNvPr id="125" name="Picture 6" descr=""/>
          <p:cNvPicPr/>
          <p:nvPr/>
        </p:nvPicPr>
        <p:blipFill>
          <a:blip r:embed="rId1"/>
          <a:stretch/>
        </p:blipFill>
        <p:spPr>
          <a:xfrm>
            <a:off x="6983640" y="1825560"/>
            <a:ext cx="3990240" cy="1437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5" dur="indefinite" restart="never" nodeType="tmRoot">
          <p:childTnLst>
            <p:seq>
              <p:cTn id="146" dur="indefinite" nodeType="mainSeq"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nodeType="withEffect" fill="hold" presetClass="entr" presetID="1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000"/>
                            </p:stCondLst>
                            <p:childTnLst>
                              <p:par>
                                <p:cTn id="152" nodeType="after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154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Two types of encryption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Symmetric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Asymmetric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28" name="Picture 4" descr=""/>
          <p:cNvPicPr/>
          <p:nvPr/>
        </p:nvPicPr>
        <p:blipFill>
          <a:blip r:embed="rId1"/>
          <a:stretch/>
        </p:blipFill>
        <p:spPr>
          <a:xfrm>
            <a:off x="5315760" y="1825560"/>
            <a:ext cx="5580360" cy="3721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Symmetric encryption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0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Same key is used for encryption and decryption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PROs</a:t>
            </a: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Speed</a:t>
            </a:r>
            <a:endParaRPr b="0" lang="en-US" sz="24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CONs</a:t>
            </a: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Same (shared) key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Cannot Authenticate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latin typeface="Arial"/>
            </a:endParaRPr>
          </a:p>
        </p:txBody>
      </p:sp>
      <p:pic>
        <p:nvPicPr>
          <p:cNvPr id="131" name="Picture 4" descr=""/>
          <p:cNvPicPr/>
          <p:nvPr/>
        </p:nvPicPr>
        <p:blipFill>
          <a:blip r:embed="rId1"/>
          <a:stretch/>
        </p:blipFill>
        <p:spPr>
          <a:xfrm>
            <a:off x="4460040" y="2501280"/>
            <a:ext cx="7276680" cy="399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3" dur="indefinite" restart="never" nodeType="tmRoot">
          <p:childTnLst>
            <p:seq>
              <p:cTn id="164" dur="indefinite" nodeType="mainSeq"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nodeType="withEffect" fill="hold" presetClass="entr" presetID="1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73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Asymmetric encryption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Public &amp; private key</a:t>
            </a: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i="1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En</a:t>
            </a: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cryption with </a:t>
            </a:r>
            <a:r>
              <a:rPr b="0" i="1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public</a:t>
            </a: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key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i="1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De</a:t>
            </a: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cryption with </a:t>
            </a:r>
            <a:r>
              <a:rPr b="0" i="1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private</a:t>
            </a: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key</a:t>
            </a:r>
            <a:endParaRPr b="0" lang="en-US" sz="24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PROs</a:t>
            </a: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Authenticity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Integrity</a:t>
            </a:r>
            <a:endParaRPr b="0" lang="en-US" sz="24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CONs</a:t>
            </a: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Slow / resource intensive</a:t>
            </a:r>
            <a:endParaRPr b="0" lang="en-US" sz="2400" spc="-1" strike="noStrike">
              <a:latin typeface="Arial"/>
            </a:endParaRPr>
          </a:p>
          <a:p>
            <a:pPr marL="13716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1371600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  <p:pic>
        <p:nvPicPr>
          <p:cNvPr id="134" name="Picture 4" descr=""/>
          <p:cNvPicPr/>
          <p:nvPr/>
        </p:nvPicPr>
        <p:blipFill>
          <a:blip r:embed="rId1"/>
          <a:stretch/>
        </p:blipFill>
        <p:spPr>
          <a:xfrm>
            <a:off x="6081120" y="1419840"/>
            <a:ext cx="5696280" cy="475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8" dur="indefinite" restart="never" nodeType="tmRoot">
          <p:childTnLst>
            <p:seq>
              <p:cTn id="189" dur="indefinite" nodeType="mainSeq">
                <p:childTnLst>
                  <p:par>
                    <p:cTn id="190" fill="hold">
                      <p:stCondLst>
                        <p:cond delay="0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nodeType="withEffect" fill="hold" presetClass="entr" presetID="1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nodeType="withEffect" fill="hold" presetClass="entr" presetID="1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nodeType="withEffect" fill="hold" presetClass="entr" presetID="1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Asymmetric encryption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136" name="Content Placeholder 8" descr=""/>
          <p:cNvPicPr/>
          <p:nvPr/>
        </p:nvPicPr>
        <p:blipFill>
          <a:blip r:embed="rId1"/>
          <a:stretch/>
        </p:blipFill>
        <p:spPr>
          <a:xfrm>
            <a:off x="1481040" y="1825560"/>
            <a:ext cx="9228600" cy="434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Asymmetric encryption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8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Public &amp; private key</a:t>
            </a: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i="1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En</a:t>
            </a: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cryption with </a:t>
            </a:r>
            <a:r>
              <a:rPr b="0" i="1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public</a:t>
            </a: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key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i="1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De</a:t>
            </a: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cryption with </a:t>
            </a:r>
            <a:r>
              <a:rPr b="0" i="1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private</a:t>
            </a: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key</a:t>
            </a:r>
            <a:endParaRPr b="0" lang="en-US" sz="24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PROs</a:t>
            </a: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Authenticity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Integrity</a:t>
            </a:r>
            <a:endParaRPr b="0" lang="en-US" sz="24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CONs</a:t>
            </a: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Slow / resource intensive</a:t>
            </a:r>
            <a:endParaRPr b="0" lang="en-US" sz="2400" spc="-1" strike="noStrike">
              <a:latin typeface="Arial"/>
            </a:endParaRPr>
          </a:p>
          <a:p>
            <a:pPr marL="13716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1371600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  <p:pic>
        <p:nvPicPr>
          <p:cNvPr id="139" name="Picture 4_0" descr=""/>
          <p:cNvPicPr/>
          <p:nvPr/>
        </p:nvPicPr>
        <p:blipFill>
          <a:blip r:embed="rId1"/>
          <a:stretch/>
        </p:blipFill>
        <p:spPr>
          <a:xfrm>
            <a:off x="6081120" y="1419840"/>
            <a:ext cx="5696280" cy="4755600"/>
          </a:xfrm>
          <a:prstGeom prst="rect">
            <a:avLst/>
          </a:prstGeom>
          <a:ln w="0">
            <a:noFill/>
          </a:ln>
        </p:spPr>
      </p:pic>
      <p:sp>
        <p:nvSpPr>
          <p:cNvPr id="140" name="CustomShape 3"/>
          <p:cNvSpPr/>
          <p:nvPr/>
        </p:nvSpPr>
        <p:spPr>
          <a:xfrm>
            <a:off x="1143000" y="2286000"/>
            <a:ext cx="4570920" cy="913320"/>
          </a:xfrm>
          <a:prstGeom prst="rect">
            <a:avLst/>
          </a:prstGeom>
          <a:gradFill rotWithShape="0">
            <a:gsLst>
              <a:gs pos="0">
                <a:srgbClr val="ff0000">
                  <a:alpha val="0"/>
                </a:srgbClr>
              </a:gs>
              <a:gs pos="50000">
                <a:srgbClr val="ff0000"/>
              </a:gs>
              <a:gs pos="100000">
                <a:srgbClr val="ff0000">
                  <a:alpha val="0"/>
                </a:srgbClr>
              </a:gs>
            </a:gsLst>
            <a:lin ang="5400000"/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nl-NL" sz="4800" spc="-1" strike="noStrike">
                <a:solidFill>
                  <a:srgbClr val="000000"/>
                </a:solidFill>
                <a:latin typeface="Calibri"/>
                <a:ea typeface="DejaVu Sans"/>
              </a:rPr>
              <a:t>Here it comes, the handshake ….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44" name="Content Placeholder 6" descr=""/>
          <p:cNvPicPr/>
          <p:nvPr/>
        </p:nvPicPr>
        <p:blipFill>
          <a:blip r:embed="rId1"/>
          <a:stretch/>
        </p:blipFill>
        <p:spPr>
          <a:xfrm>
            <a:off x="1056600" y="728280"/>
            <a:ext cx="10077480" cy="5400000"/>
          </a:xfrm>
          <a:prstGeom prst="rect">
            <a:avLst/>
          </a:prstGeom>
          <a:ln w="0">
            <a:noFill/>
          </a:ln>
        </p:spPr>
      </p:pic>
      <p:pic>
        <p:nvPicPr>
          <p:cNvPr id="145" name="Picture 8" descr=""/>
          <p:cNvPicPr/>
          <p:nvPr/>
        </p:nvPicPr>
        <p:blipFill>
          <a:blip r:embed="rId2"/>
          <a:stretch/>
        </p:blipFill>
        <p:spPr>
          <a:xfrm>
            <a:off x="1056600" y="728280"/>
            <a:ext cx="10077480" cy="5400000"/>
          </a:xfrm>
          <a:prstGeom prst="rect">
            <a:avLst/>
          </a:prstGeom>
          <a:ln w="0">
            <a:noFill/>
          </a:ln>
        </p:spPr>
      </p:pic>
      <p:pic>
        <p:nvPicPr>
          <p:cNvPr id="146" name="Picture 10" descr=""/>
          <p:cNvPicPr/>
          <p:nvPr/>
        </p:nvPicPr>
        <p:blipFill>
          <a:blip r:embed="rId3"/>
          <a:stretch/>
        </p:blipFill>
        <p:spPr>
          <a:xfrm>
            <a:off x="1056600" y="728280"/>
            <a:ext cx="10077480" cy="5400000"/>
          </a:xfrm>
          <a:prstGeom prst="rect">
            <a:avLst/>
          </a:prstGeom>
          <a:ln w="0">
            <a:noFill/>
          </a:ln>
        </p:spPr>
      </p:pic>
      <p:pic>
        <p:nvPicPr>
          <p:cNvPr id="147" name="Picture 12" descr=""/>
          <p:cNvPicPr/>
          <p:nvPr/>
        </p:nvPicPr>
        <p:blipFill>
          <a:blip r:embed="rId4"/>
          <a:stretch/>
        </p:blipFill>
        <p:spPr>
          <a:xfrm>
            <a:off x="1056600" y="728280"/>
            <a:ext cx="10077480" cy="5400000"/>
          </a:xfrm>
          <a:prstGeom prst="rect">
            <a:avLst/>
          </a:prstGeom>
          <a:ln w="0">
            <a:noFill/>
          </a:ln>
        </p:spPr>
      </p:pic>
      <p:pic>
        <p:nvPicPr>
          <p:cNvPr id="148" name="Picture 14" descr=""/>
          <p:cNvPicPr/>
          <p:nvPr/>
        </p:nvPicPr>
        <p:blipFill>
          <a:blip r:embed="rId5"/>
          <a:stretch/>
        </p:blipFill>
        <p:spPr>
          <a:xfrm>
            <a:off x="1056600" y="728280"/>
            <a:ext cx="10077480" cy="5400000"/>
          </a:xfrm>
          <a:prstGeom prst="rect">
            <a:avLst/>
          </a:prstGeom>
          <a:ln w="0">
            <a:noFill/>
          </a:ln>
        </p:spPr>
      </p:pic>
      <p:pic>
        <p:nvPicPr>
          <p:cNvPr id="149" name="Picture 16" descr=""/>
          <p:cNvPicPr/>
          <p:nvPr/>
        </p:nvPicPr>
        <p:blipFill>
          <a:blip r:embed="rId6"/>
          <a:stretch/>
        </p:blipFill>
        <p:spPr>
          <a:xfrm>
            <a:off x="1056600" y="728280"/>
            <a:ext cx="10077480" cy="5400000"/>
          </a:xfrm>
          <a:prstGeom prst="rect">
            <a:avLst/>
          </a:prstGeom>
          <a:ln w="0">
            <a:noFill/>
          </a:ln>
        </p:spPr>
      </p:pic>
      <p:pic>
        <p:nvPicPr>
          <p:cNvPr id="150" name="Picture 18" descr=""/>
          <p:cNvPicPr/>
          <p:nvPr/>
        </p:nvPicPr>
        <p:blipFill>
          <a:blip r:embed="rId7"/>
          <a:stretch/>
        </p:blipFill>
        <p:spPr>
          <a:xfrm>
            <a:off x="1037520" y="728280"/>
            <a:ext cx="10115640" cy="5400000"/>
          </a:xfrm>
          <a:prstGeom prst="rect">
            <a:avLst/>
          </a:prstGeom>
          <a:ln w="0">
            <a:noFill/>
          </a:ln>
        </p:spPr>
      </p:pic>
      <p:pic>
        <p:nvPicPr>
          <p:cNvPr id="151" name="Picture 3" descr=""/>
          <p:cNvPicPr/>
          <p:nvPr/>
        </p:nvPicPr>
        <p:blipFill>
          <a:blip r:embed="rId8"/>
          <a:stretch/>
        </p:blipFill>
        <p:spPr>
          <a:xfrm>
            <a:off x="1037520" y="728280"/>
            <a:ext cx="10115640" cy="54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2" dur="indefinite" restart="never" nodeType="tmRoot">
          <p:childTnLst>
            <p:seq>
              <p:cTn id="213" dur="indefinite" nodeType="mainSeq">
                <p:childTnLst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21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22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22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23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23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243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24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TLS Handshake (&lt;=1.2)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153" name="Content Placeholder 10" descr=""/>
          <p:cNvPicPr/>
          <p:nvPr/>
        </p:nvPicPr>
        <p:blipFill>
          <a:blip r:embed="rId1"/>
          <a:stretch/>
        </p:blipFill>
        <p:spPr>
          <a:xfrm>
            <a:off x="630360" y="1668600"/>
            <a:ext cx="10759320" cy="474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Cipher suite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55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The complete recipy for securing the connection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It determines:</a:t>
            </a: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Security level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Compatibility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Performance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6" name="Picture 4" descr=""/>
          <p:cNvPicPr/>
          <p:nvPr/>
        </p:nvPicPr>
        <p:blipFill>
          <a:blip r:embed="rId1"/>
          <a:stretch/>
        </p:blipFill>
        <p:spPr>
          <a:xfrm>
            <a:off x="7917840" y="2566080"/>
            <a:ext cx="3434760" cy="3609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9" dur="indefinite" restart="never" nodeType="tmRoot">
          <p:childTnLst>
            <p:seq>
              <p:cTn id="250" dur="indefinite" nodeType="mainSeq">
                <p:childTnLst>
                  <p:par>
                    <p:cTn id="251" fill="hold">
                      <p:stCondLst>
                        <p:cond delay="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255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Ciphersuites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58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1800" spc="-1" strike="noStrike">
              <a:latin typeface="Arial"/>
            </a:endParaRPr>
          </a:p>
          <a:p>
            <a:pPr marL="514440" indent="-5130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Calibri Light"/>
              <a:buAutoNum type="arabicPeriod"/>
            </a:pPr>
            <a:r>
              <a:rPr b="1" lang="en-US" sz="2800" spc="-1" strike="noStrike">
                <a:solidFill>
                  <a:srgbClr val="ff0000"/>
                </a:solidFill>
                <a:latin typeface="Calibri"/>
                <a:ea typeface="DejaVu Sans"/>
              </a:rPr>
              <a:t>Key exchange 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: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Key exchange algorithm (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asymmetric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b="0" lang="en-US" sz="2800" spc="-1" strike="noStrike">
              <a:latin typeface="Arial"/>
            </a:endParaRPr>
          </a:p>
          <a:p>
            <a:pPr marL="514440" indent="-513000">
              <a:lnSpc>
                <a:spcPct val="90000"/>
              </a:lnSpc>
              <a:spcBef>
                <a:spcPts val="1001"/>
              </a:spcBef>
              <a:buClr>
                <a:srgbClr val="ffc000"/>
              </a:buClr>
              <a:buFont typeface="Calibri Light"/>
              <a:buAutoNum type="arabicPeriod"/>
            </a:pPr>
            <a:r>
              <a:rPr b="1" lang="en-US" sz="2800" spc="-1" strike="noStrike">
                <a:solidFill>
                  <a:srgbClr val="ffc000"/>
                </a:solidFill>
                <a:latin typeface="Calibri"/>
                <a:ea typeface="DejaVu Sans"/>
              </a:rPr>
              <a:t>Authentication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: Authentication algorithm</a:t>
            </a:r>
            <a:endParaRPr b="0" lang="en-US" sz="2800" spc="-1" strike="noStrike">
              <a:latin typeface="Arial"/>
            </a:endParaRPr>
          </a:p>
          <a:p>
            <a:pPr marL="514440" indent="-513000">
              <a:lnSpc>
                <a:spcPct val="90000"/>
              </a:lnSpc>
              <a:spcBef>
                <a:spcPts val="1001"/>
              </a:spcBef>
              <a:buClr>
                <a:srgbClr val="00b050"/>
              </a:buClr>
              <a:buFont typeface="Calibri Light"/>
              <a:buAutoNum type="arabicPeriod"/>
            </a:pPr>
            <a:r>
              <a:rPr b="1" lang="en-US" sz="2800" spc="-1" strike="noStrike">
                <a:solidFill>
                  <a:srgbClr val="00b050"/>
                </a:solidFill>
                <a:latin typeface="Calibri"/>
                <a:ea typeface="DejaVu Sans"/>
              </a:rPr>
              <a:t>Cipher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- S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ymmetric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encryption algorithm</a:t>
            </a:r>
            <a:endParaRPr b="0" lang="en-US" sz="2800" spc="-1" strike="noStrike">
              <a:latin typeface="Arial"/>
            </a:endParaRPr>
          </a:p>
          <a:p>
            <a:pPr marL="514440" indent="-51300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Calibri Light"/>
              <a:buAutoNum type="arabicPeriod"/>
            </a:pPr>
            <a:r>
              <a:rPr b="1" lang="en-US" sz="2800" spc="-1" strike="noStrike">
                <a:solidFill>
                  <a:srgbClr val="0070c0"/>
                </a:solidFill>
                <a:latin typeface="Calibri"/>
                <a:ea typeface="DejaVu Sans"/>
              </a:rPr>
              <a:t>MAC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- The hash function to ensure message integrity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latin typeface="Arial"/>
            </a:endParaRPr>
          </a:p>
        </p:txBody>
      </p:sp>
      <p:pic>
        <p:nvPicPr>
          <p:cNvPr id="159" name="Picture 4" descr=""/>
          <p:cNvPicPr/>
          <p:nvPr/>
        </p:nvPicPr>
        <p:blipFill>
          <a:blip r:embed="rId1"/>
          <a:stretch/>
        </p:blipFill>
        <p:spPr>
          <a:xfrm>
            <a:off x="1351080" y="1690560"/>
            <a:ext cx="8206920" cy="1334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6" dur="indefinite" restart="never" nodeType="tmRoot">
          <p:childTnLst>
            <p:seq>
              <p:cTn id="277" dur="indefinite" nodeType="mainSeq">
                <p:childTnLst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As promised: quantum re-dive</a:t>
            </a:r>
            <a:endParaRPr b="0" lang="en-US" sz="4400" spc="-1" strike="noStrike">
              <a:latin typeface="Arial"/>
            </a:endParaRPr>
          </a:p>
        </p:txBody>
      </p:sp>
      <p:graphicFrame>
        <p:nvGraphicFramePr>
          <p:cNvPr id="161" name="Table 2"/>
          <p:cNvGraphicFramePr/>
          <p:nvPr/>
        </p:nvGraphicFramePr>
        <p:xfrm>
          <a:off x="3134160" y="2363400"/>
          <a:ext cx="5923800" cy="2431440"/>
        </p:xfrm>
        <a:graphic>
          <a:graphicData uri="http://schemas.openxmlformats.org/drawingml/2006/table">
            <a:tbl>
              <a:tblPr/>
              <a:tblGrid>
                <a:gridCol w="1974240"/>
                <a:gridCol w="1974240"/>
                <a:gridCol w="1975680"/>
              </a:tblGrid>
              <a:tr h="5018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Protocol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  <a:ea typeface="Microsoft YaHei"/>
                        </a:rPr>
                        <a:t>Quantum Ready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  <a:ea typeface="Microsoft YaHei"/>
                        </a:rPr>
                        <a:t>Quantum Safe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9644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TLS 1.2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❌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❌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9655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TLS 1.3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✅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❌ </a:t>
                      </a:r>
                      <a:r>
                        <a:rPr b="0" lang="en-US" sz="1800" spc="-1" strike="noStrike">
                          <a:latin typeface="Arial"/>
                        </a:rPr>
                        <a:t>(yet)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162" name="CustomShape 3"/>
          <p:cNvSpPr/>
          <p:nvPr/>
        </p:nvSpPr>
        <p:spPr>
          <a:xfrm rot="2100000">
            <a:off x="8095680" y="1878840"/>
            <a:ext cx="3199320" cy="14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9600" spc="-1" strike="noStrike">
                <a:solidFill>
                  <a:srgbClr val="069a2e"/>
                </a:solidFill>
                <a:latin typeface="Bauhaus 93"/>
                <a:ea typeface="DejaVu Sans"/>
              </a:rPr>
              <a:t>PQC</a:t>
            </a:r>
            <a:endParaRPr b="0" lang="en-US" sz="9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4" dur="indefinite" restart="never" nodeType="tmRoot">
          <p:childTnLst>
            <p:seq>
              <p:cTn id="295" dur="indefinite" nodeType="mainSeq">
                <p:childTnLst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Encrypted parts of an https request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64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Breakdown of an http(s) request:</a:t>
            </a: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b0f0"/>
              </a:buClr>
              <a:buFont typeface="Arial"/>
              <a:buChar char="•"/>
            </a:pPr>
            <a:r>
              <a:rPr b="0" lang="nl-NL" sz="2400" spc="-1" strike="noStrike" u="sng">
                <a:solidFill>
                  <a:srgbClr val="00b0f0"/>
                </a:solidFill>
                <a:uFillTx/>
                <a:latin typeface="Calibri"/>
                <a:ea typeface="DejaVu Sans"/>
              </a:rPr>
              <a:t>https://www.domain.com/path/to/some/page.html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IP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Domain name (in header)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Path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Body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Headers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0" dur="indefinite" restart="never" nodeType="tmRoot">
          <p:childTnLst>
            <p:seq>
              <p:cTn id="301" dur="indefinite" nodeType="mainSeq">
                <p:childTnLst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Encrypted parts of an https request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66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Breakdown of an https request: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ff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ff0000"/>
                </a:solidFill>
                <a:latin typeface="Calibri"/>
                <a:ea typeface="DejaVu Sans"/>
              </a:rPr>
              <a:t>IP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ffc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ffc000"/>
                </a:solidFill>
                <a:latin typeface="Calibri"/>
                <a:ea typeface="DejaVu Sans"/>
              </a:rPr>
              <a:t>Domain name </a:t>
            </a:r>
            <a:r>
              <a:rPr b="0" lang="nl-NL" sz="2400" spc="-1" strike="noStrike">
                <a:solidFill>
                  <a:srgbClr val="00b050"/>
                </a:solidFill>
                <a:latin typeface="Calibri"/>
                <a:ea typeface="DejaVu Sans"/>
              </a:rPr>
              <a:t>(in header)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b05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b050"/>
                </a:solidFill>
                <a:latin typeface="Calibri"/>
                <a:ea typeface="DejaVu Sans"/>
              </a:rPr>
              <a:t>Path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b05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b050"/>
                </a:solidFill>
                <a:latin typeface="Calibri"/>
                <a:ea typeface="DejaVu Sans"/>
              </a:rPr>
              <a:t>Body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b05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b050"/>
                </a:solidFill>
                <a:latin typeface="Calibri"/>
                <a:ea typeface="DejaVu Sans"/>
              </a:rPr>
              <a:t>Request Headers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So we can put whatever in the path?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68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 </a:t>
            </a:r>
            <a:r>
              <a:rPr b="0" lang="nl-NL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Breakdown of an https request:</a:t>
            </a: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d9d9d9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d9d9d9"/>
                </a:solidFill>
                <a:latin typeface="Calibri"/>
                <a:ea typeface="DejaVu Sans"/>
              </a:rPr>
              <a:t>IP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d9d9d9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d9d9d9"/>
                </a:solidFill>
                <a:latin typeface="Calibri"/>
                <a:ea typeface="DejaVu Sans"/>
              </a:rPr>
              <a:t>Domain name (in header)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b050"/>
              </a:buClr>
              <a:buFont typeface="Arial"/>
              <a:buChar char="•"/>
            </a:pPr>
            <a:r>
              <a:rPr b="1" lang="nl-NL" sz="2400" spc="-1" strike="noStrike">
                <a:solidFill>
                  <a:srgbClr val="00b050"/>
                </a:solidFill>
                <a:latin typeface="Calibri"/>
                <a:ea typeface="DejaVu Sans"/>
              </a:rPr>
              <a:t>Path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d9d9d9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d9d9d9"/>
                </a:solidFill>
                <a:latin typeface="Calibri"/>
                <a:ea typeface="DejaVu Sans"/>
              </a:rPr>
              <a:t>Body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d9d9d9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d9d9d9"/>
                </a:solidFill>
                <a:latin typeface="Calibri"/>
                <a:ea typeface="DejaVu Sans"/>
              </a:rPr>
              <a:t>Request Headers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latin typeface="Arial"/>
            </a:endParaRPr>
          </a:p>
        </p:txBody>
      </p:sp>
      <p:pic>
        <p:nvPicPr>
          <p:cNvPr id="169" name="Picture 4" descr=""/>
          <p:cNvPicPr/>
          <p:nvPr/>
        </p:nvPicPr>
        <p:blipFill>
          <a:blip r:embed="rId1"/>
          <a:stretch/>
        </p:blipFill>
        <p:spPr>
          <a:xfrm>
            <a:off x="6095880" y="3429000"/>
            <a:ext cx="2763360" cy="276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So we can put whatever in the path? – </a:t>
            </a:r>
            <a:r>
              <a:rPr b="1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NO!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71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Yes, the path is encrypted, but don’t put sensitive information in it because it can still ‘leak’ in various ways:</a:t>
            </a:r>
            <a:endParaRPr b="0" lang="en-US" sz="2800" spc="-1" strike="noStrike">
              <a:latin typeface="Arial"/>
            </a:endParaRPr>
          </a:p>
          <a:p>
            <a:pPr lvl="1" marL="914400" indent="-455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Webserver Logs</a:t>
            </a:r>
            <a:endParaRPr b="0" lang="en-US" sz="2400" spc="-1" strike="noStrike">
              <a:latin typeface="Arial"/>
            </a:endParaRPr>
          </a:p>
          <a:p>
            <a:pPr lvl="1" marL="914400" indent="-455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Browser History</a:t>
            </a:r>
            <a:endParaRPr b="0" lang="en-US" sz="2400" spc="-1" strike="noStrike">
              <a:latin typeface="Arial"/>
            </a:endParaRPr>
          </a:p>
          <a:p>
            <a:pPr lvl="1" marL="914400" indent="-455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Bookmarks</a:t>
            </a:r>
            <a:endParaRPr b="0" lang="en-US" sz="2400" spc="-1" strike="noStrike">
              <a:latin typeface="Arial"/>
            </a:endParaRPr>
          </a:p>
          <a:p>
            <a:pPr lvl="1" marL="914400" indent="-455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Printing</a:t>
            </a:r>
            <a:endParaRPr b="0" lang="en-US" sz="2400" spc="-1" strike="noStrike">
              <a:latin typeface="Arial"/>
            </a:endParaRPr>
          </a:p>
          <a:p>
            <a:pPr lvl="1" marL="914400" indent="-455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Referrer Headers</a:t>
            </a:r>
            <a:endParaRPr b="0" lang="en-US" sz="2400" spc="-1" strike="noStrike">
              <a:latin typeface="Arial"/>
            </a:endParaRPr>
          </a:p>
          <a:p>
            <a:pPr lvl="1" marL="914400" indent="-455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Analytics Tools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2" name="Picture 4" descr=""/>
          <p:cNvPicPr/>
          <p:nvPr/>
        </p:nvPicPr>
        <p:blipFill>
          <a:blip r:embed="rId1"/>
          <a:stretch/>
        </p:blipFill>
        <p:spPr>
          <a:xfrm>
            <a:off x="6095880" y="3429000"/>
            <a:ext cx="2763360" cy="276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2" dur="indefinite" restart="never" nodeType="tmRoot">
          <p:childTnLst>
            <p:seq>
              <p:cTn id="323" dur="indefinite" nodeType="mainSeq">
                <p:childTnLst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8" dur="500" fill="hold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9" dur="500" fill="hold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4" dur="500" fill="hold"/>
                                        <p:tgtEl>
                                          <p:spTgt spid="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5" dur="500" fill="hold"/>
                                        <p:tgtEl>
                                          <p:spTgt spid="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0" dur="500" fill="hold"/>
                                        <p:tgtEl>
                                          <p:spTgt spid="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1" dur="500" fill="hold"/>
                                        <p:tgtEl>
                                          <p:spTgt spid="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6" dur="500" fill="hold"/>
                                        <p:tgtEl>
                                          <p:spTgt spid="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7" dur="500" fill="hold"/>
                                        <p:tgtEl>
                                          <p:spTgt spid="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2" dur="500" fill="hold"/>
                                        <p:tgtEl>
                                          <p:spTgt spid="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3" dur="500" fill="hold"/>
                                        <p:tgtEl>
                                          <p:spTgt spid="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8" dur="500" fill="hold"/>
                                        <p:tgtEl>
                                          <p:spTgt spid="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9" dur="500" fill="hold"/>
                                        <p:tgtEl>
                                          <p:spTgt spid="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64" dur="500" fill="hold"/>
                                        <p:tgtEl>
                                          <p:spTgt spid="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5" dur="500" fill="hold"/>
                                        <p:tgtEl>
                                          <p:spTgt spid="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Picture 4" descr=""/>
          <p:cNvPicPr/>
          <p:nvPr/>
        </p:nvPicPr>
        <p:blipFill>
          <a:blip r:embed="rId1"/>
          <a:stretch/>
        </p:blipFill>
        <p:spPr>
          <a:xfrm>
            <a:off x="2934720" y="21600"/>
            <a:ext cx="6341400" cy="6834960"/>
          </a:xfrm>
          <a:prstGeom prst="rect">
            <a:avLst/>
          </a:prstGeom>
          <a:ln w="0">
            <a:noFill/>
          </a:ln>
        </p:spPr>
      </p:pic>
      <p:sp>
        <p:nvSpPr>
          <p:cNvPr id="174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nl-NL" sz="4800" spc="-1" strike="noStrike">
                <a:solidFill>
                  <a:srgbClr val="000000"/>
                </a:solidFill>
                <a:latin typeface="Calibri"/>
                <a:ea typeface="DejaVu Sans"/>
              </a:rPr>
              <a:t>Certificates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Certificates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77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What is a certificate?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What role do certificates play exactly?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And why are we still using SSL certificates if SSL is no longer safe?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How can we trust a certificate?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pic>
        <p:nvPicPr>
          <p:cNvPr id="178" name="Picture 4" descr=""/>
          <p:cNvPicPr/>
          <p:nvPr/>
        </p:nvPicPr>
        <p:blipFill>
          <a:blip r:embed="rId1"/>
          <a:stretch/>
        </p:blipFill>
        <p:spPr>
          <a:xfrm>
            <a:off x="4581360" y="4672080"/>
            <a:ext cx="3027600" cy="150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66" dur="indefinite" restart="never" nodeType="tmRoot">
          <p:childTnLst>
            <p:seq>
              <p:cTn id="367" dur="indefinite" nodeType="mainSeq">
                <p:childTnLst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indefinite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" fill="hold">
                      <p:stCondLst>
                        <p:cond delay="indefinite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What is a certificate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180" name="Content Placeholder 4" descr=""/>
          <p:cNvPicPr/>
          <p:nvPr/>
        </p:nvPicPr>
        <p:blipFill>
          <a:blip r:embed="rId1"/>
          <a:stretch/>
        </p:blipFill>
        <p:spPr>
          <a:xfrm>
            <a:off x="838080" y="1690560"/>
            <a:ext cx="3574440" cy="2701800"/>
          </a:xfrm>
          <a:prstGeom prst="rect">
            <a:avLst/>
          </a:prstGeom>
          <a:ln w="0">
            <a:noFill/>
          </a:ln>
        </p:spPr>
      </p:pic>
      <p:pic>
        <p:nvPicPr>
          <p:cNvPr id="181" name="Picture 6" descr=""/>
          <p:cNvPicPr/>
          <p:nvPr/>
        </p:nvPicPr>
        <p:blipFill>
          <a:blip r:embed="rId2"/>
          <a:stretch/>
        </p:blipFill>
        <p:spPr>
          <a:xfrm>
            <a:off x="5188680" y="1690560"/>
            <a:ext cx="4199760" cy="509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4" dur="indefinite" restart="never" nodeType="tmRoot">
          <p:childTnLst>
            <p:seq>
              <p:cTn id="385" dur="indefinite" nodeType="mainSeq">
                <p:childTnLst>
                  <p:par>
                    <p:cTn id="386" fill="hold">
                      <p:stCondLst>
                        <p:cond delay="indefinite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390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39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What is a certificate really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183" name="Content Placeholder 4" descr=""/>
          <p:cNvPicPr/>
          <p:nvPr/>
        </p:nvPicPr>
        <p:blipFill>
          <a:blip r:embed="rId1"/>
          <a:stretch/>
        </p:blipFill>
        <p:spPr>
          <a:xfrm>
            <a:off x="376560" y="1532520"/>
            <a:ext cx="5971680" cy="4170960"/>
          </a:xfrm>
          <a:prstGeom prst="rect">
            <a:avLst/>
          </a:prstGeom>
          <a:ln w="0">
            <a:noFill/>
          </a:ln>
        </p:spPr>
      </p:pic>
      <p:pic>
        <p:nvPicPr>
          <p:cNvPr id="184" name="Picture 3" descr=""/>
          <p:cNvPicPr/>
          <p:nvPr/>
        </p:nvPicPr>
        <p:blipFill>
          <a:blip r:embed="rId2"/>
          <a:stretch/>
        </p:blipFill>
        <p:spPr>
          <a:xfrm>
            <a:off x="6450120" y="3722760"/>
            <a:ext cx="5619600" cy="294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6" dur="indefinite" restart="never" nodeType="tmRoot">
          <p:childTnLst>
            <p:seq>
              <p:cTn id="397" dur="indefinite" nodeType="mainSeq">
                <p:childTnLst>
                  <p:par>
                    <p:cTn id="398" fill="hold">
                      <p:stCondLst>
                        <p:cond delay="indefinite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nodeType="afterEffect" fill="hold" presetClass="entr" presetID="14" presetSubtype="1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05" dur="75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What is a certificate really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86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 fontScale="69000"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 file that digitally binds a cryptographic key to company and domain data.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Format is according to X.509 standard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There are several commonly used filename extensions for X.509 certificates:</a:t>
            </a: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pem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– (Privacy-enhanced Electronic Mail) Base64 encoded DER certificate, enclosed between "-----BEGIN CERTIFICATE-----" and "-----END CERTIFICATE-----"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, .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crt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, .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der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– usually in binary DER form, but Base64-encoded certificates are common too (see .pem above)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p7b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, .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p7c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– PKCS#7 SignedData structure without data, just certificate(s) or CRL(s)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p12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– PKCS#12, may contain certificate(s) (public) and private keys (password protected)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pfx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– PFX, predecessor of PKCS#12 (usually contains data in PKCS#12 format, e.g., with PFX files generated in IIS)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00" spc="-1" strike="noStrike">
                <a:solidFill>
                  <a:srgbClr val="000000"/>
                </a:solidFill>
                <a:latin typeface="Calibri"/>
                <a:ea typeface="DejaVu Sans"/>
              </a:rPr>
              <a:t>(Unfortunately, some of these extensions are also used for other data such as private keys)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06" dur="indefinite" restart="never" nodeType="tmRoot">
          <p:childTnLst>
            <p:seq>
              <p:cTn id="407" dur="indefinite" nodeType="mainSeq">
                <p:childTnLst>
                  <p:par>
                    <p:cTn id="408" fill="hold">
                      <p:stCondLst>
                        <p:cond delay="0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nodeType="with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indefinite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6" fill="hold">
                      <p:stCondLst>
                        <p:cond delay="indefinite"/>
                      </p:stCondLst>
                      <p:childTnLst>
                        <p:par>
                          <p:cTn id="417" fill="hold">
                            <p:stCondLst>
                              <p:cond delay="0"/>
                            </p:stCondLst>
                            <p:childTnLst>
                              <p:par>
                                <p:cTn id="41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7" fill="hold">
                            <p:stCondLst>
                              <p:cond delay="500"/>
                            </p:stCondLst>
                            <p:childTnLst>
                              <p:par>
                                <p:cTn id="428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1000"/>
                            </p:stCondLst>
                            <p:childTnLst>
                              <p:par>
                                <p:cTn id="431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3" fill="hold">
                            <p:stCondLst>
                              <p:cond delay="1500"/>
                            </p:stCondLst>
                            <p:childTnLst>
                              <p:par>
                                <p:cTn id="434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6" fill="hold">
                            <p:stCondLst>
                              <p:cond delay="2000"/>
                            </p:stCondLst>
                            <p:childTnLst>
                              <p:par>
                                <p:cTn id="437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What role does it play in an https connection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88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The server authenticates itself (this works because a trusted CA has signed it)</a:t>
            </a: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client can validate that it’s talking to the correct server/domain</a:t>
            </a:r>
            <a:endParaRPr b="0" lang="en-US" sz="24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The initial encryption of the connection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Server vs Client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9" dur="indefinite" restart="never" nodeType="tmRoot">
          <p:childTnLst>
            <p:seq>
              <p:cTn id="440" dur="indefinite" nodeType="mainSeq">
                <p:childTnLst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i="1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SSL (??)</a:t>
            </a: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 Certificates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90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Certificates are not dependent on protocols. That is, you don’t need to use a TLS Certificate vs. an SSL Certificate. While many vendors tend to use the phrase “SSL/TLS Certificate”, it may be more accurate to call them “Certificates for use with SSL and TLS", since the protocols are determined by your server configuration, not the certificates themselves.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We’ll just use the terms Certificates or SSL Certificates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51" dur="indefinite" restart="never" nodeType="tmRoot">
          <p:childTnLst>
            <p:seq>
              <p:cTn id="452" dur="indefinite" nodeType="mainSeq">
                <p:childTnLst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7" fill="hold">
                            <p:stCondLst>
                              <p:cond delay="0"/>
                            </p:stCondLst>
                            <p:childTnLst>
                              <p:par>
                                <p:cTn id="458" nodeType="afterEffect" fill="hold" presetClass="entr" presetID="1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How can we trust a certificate?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92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Certificate Authorities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Root Certificate Authority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Certificate Chain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Other validations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93" name="Picture 4" descr=""/>
          <p:cNvPicPr/>
          <p:nvPr/>
        </p:nvPicPr>
        <p:blipFill>
          <a:blip r:embed="rId1"/>
          <a:stretch/>
        </p:blipFill>
        <p:spPr>
          <a:xfrm>
            <a:off x="7198560" y="2021760"/>
            <a:ext cx="4153680" cy="415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60" dur="indefinite" restart="never" nodeType="tmRoot">
          <p:childTnLst>
            <p:seq>
              <p:cTn id="461" dur="indefinite" nodeType="mainSeq">
                <p:childTnLst>
                  <p:par>
                    <p:cTn id="462" fill="hold">
                      <p:stCondLst>
                        <p:cond delay="indefinite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nodeType="afterEffect" fill="hold" presetClass="entr" presetID="1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9" fill="hold">
                            <p:stCondLst>
                              <p:cond delay="1000"/>
                            </p:stCondLst>
                            <p:childTnLst>
                              <p:par>
                                <p:cTn id="470" nodeType="afterEffect" fill="hold" presetClass="entr" presetID="1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2" fill="hold">
                            <p:stCondLst>
                              <p:cond delay="2000"/>
                            </p:stCondLst>
                            <p:childTnLst>
                              <p:par>
                                <p:cTn id="473" nodeType="afterEffect" fill="hold" presetClass="entr" presetID="1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Certificate Authority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95" name="CustomShape 2"/>
          <p:cNvSpPr/>
          <p:nvPr/>
        </p:nvSpPr>
        <p:spPr>
          <a:xfrm>
            <a:off x="838080" y="1825560"/>
            <a:ext cx="573084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CA issues certificates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Acts as trusted 3rd party (trusted by both owner and user)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CA can also revoke a certificate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96" name="Picture 4" descr=""/>
          <p:cNvPicPr/>
          <p:nvPr/>
        </p:nvPicPr>
        <p:blipFill>
          <a:blip r:embed="rId1"/>
          <a:stretch/>
        </p:blipFill>
        <p:spPr>
          <a:xfrm>
            <a:off x="6570720" y="2563560"/>
            <a:ext cx="4925160" cy="3612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75" dur="indefinite" restart="never" nodeType="tmRoot">
          <p:childTnLst>
            <p:seq>
              <p:cTn id="476" dur="indefinite" nodeType="mainSeq">
                <p:childTnLst>
                  <p:par>
                    <p:cTn id="477" fill="hold">
                      <p:stCondLst>
                        <p:cond delay="indefinite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1" fill="hold">
                      <p:stCondLst>
                        <p:cond delay="indefinite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5" fill="hold">
                      <p:stCondLst>
                        <p:cond delay="indefinite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Root CA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98" name="CustomShape 2"/>
          <p:cNvSpPr/>
          <p:nvPr/>
        </p:nvSpPr>
        <p:spPr>
          <a:xfrm>
            <a:off x="838080" y="1825560"/>
            <a:ext cx="61437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 Root CA is a Certificate Authority that is implicitly trusted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They have a self-signed certificate which is pre-installed in the trust-store of the client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pic>
        <p:nvPicPr>
          <p:cNvPr id="199" name="Picture 4" descr=""/>
          <p:cNvPicPr/>
          <p:nvPr/>
        </p:nvPicPr>
        <p:blipFill>
          <a:blip r:embed="rId1"/>
          <a:stretch/>
        </p:blipFill>
        <p:spPr>
          <a:xfrm>
            <a:off x="7545240" y="553320"/>
            <a:ext cx="3807000" cy="5711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Certificate chains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201" name="Content Placeholder 4_2" descr=""/>
          <p:cNvPicPr/>
          <p:nvPr/>
        </p:nvPicPr>
        <p:blipFill>
          <a:blip r:embed="rId1"/>
          <a:stretch/>
        </p:blipFill>
        <p:spPr>
          <a:xfrm>
            <a:off x="3881880" y="1334520"/>
            <a:ext cx="4427280" cy="529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89" dur="indefinite" restart="never" nodeType="tmRoot">
          <p:childTnLst>
            <p:seq>
              <p:cTn id="490" dur="indefinite" nodeType="mainSeq">
                <p:childTnLst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95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Certificate chains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203" name="Content Placeholder 4" descr=""/>
          <p:cNvPicPr/>
          <p:nvPr/>
        </p:nvPicPr>
        <p:blipFill>
          <a:blip r:embed="rId1"/>
          <a:stretch/>
        </p:blipFill>
        <p:spPr>
          <a:xfrm>
            <a:off x="1132920" y="2634120"/>
            <a:ext cx="9924840" cy="2732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Certificate chains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205" name="Content Placeholder 6" descr=""/>
          <p:cNvPicPr/>
          <p:nvPr/>
        </p:nvPicPr>
        <p:blipFill>
          <a:blip r:embed="rId1"/>
          <a:stretch/>
        </p:blipFill>
        <p:spPr>
          <a:xfrm>
            <a:off x="7627320" y="112320"/>
            <a:ext cx="4439160" cy="6631920"/>
          </a:xfrm>
          <a:prstGeom prst="rect">
            <a:avLst/>
          </a:prstGeom>
          <a:ln w="0">
            <a:noFill/>
          </a:ln>
        </p:spPr>
      </p:pic>
      <p:pic>
        <p:nvPicPr>
          <p:cNvPr id="206" name="Picture 8" descr=""/>
          <p:cNvPicPr/>
          <p:nvPr/>
        </p:nvPicPr>
        <p:blipFill>
          <a:blip r:embed="rId2"/>
          <a:stretch/>
        </p:blipFill>
        <p:spPr>
          <a:xfrm>
            <a:off x="671400" y="1556280"/>
            <a:ext cx="5552280" cy="1532160"/>
          </a:xfrm>
          <a:prstGeom prst="rect">
            <a:avLst/>
          </a:prstGeom>
          <a:ln w="0">
            <a:noFill/>
          </a:ln>
        </p:spPr>
      </p:pic>
      <p:pic>
        <p:nvPicPr>
          <p:cNvPr id="207" name="Picture 10" descr=""/>
          <p:cNvPicPr/>
          <p:nvPr/>
        </p:nvPicPr>
        <p:blipFill>
          <a:blip r:embed="rId3"/>
          <a:stretch/>
        </p:blipFill>
        <p:spPr>
          <a:xfrm>
            <a:off x="671400" y="3483360"/>
            <a:ext cx="5571360" cy="177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96" dur="indefinite" restart="never" nodeType="tmRoot">
          <p:childTnLst>
            <p:seq>
              <p:cTn id="497" dur="indefinite" nodeType="mainSeq">
                <p:childTnLst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502"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fill="hold">
                      <p:stCondLst>
                        <p:cond delay="indefinite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50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510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Certificate validations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09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Chain validation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Subject validation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Date validation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210" name="Picture 4" descr=""/>
          <p:cNvPicPr/>
          <p:nvPr/>
        </p:nvPicPr>
        <p:blipFill>
          <a:blip r:embed="rId1"/>
          <a:stretch/>
        </p:blipFill>
        <p:spPr>
          <a:xfrm>
            <a:off x="4287960" y="1825560"/>
            <a:ext cx="7361280" cy="3749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Different type of certificates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12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By Validation:</a:t>
            </a: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Self-signed Certificates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Domain Validation (DV)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Organization Validation (OV)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Extended Validation (EV)</a:t>
            </a:r>
            <a:endParaRPr b="0" lang="en-US" sz="24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By domain:</a:t>
            </a: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Single domain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Multi domain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Wildcard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13" name="Picture 4" descr=""/>
          <p:cNvPicPr/>
          <p:nvPr/>
        </p:nvPicPr>
        <p:blipFill>
          <a:blip r:embed="rId1"/>
          <a:stretch/>
        </p:blipFill>
        <p:spPr>
          <a:xfrm>
            <a:off x="10091520" y="4512600"/>
            <a:ext cx="1667880" cy="1797840"/>
          </a:xfrm>
          <a:prstGeom prst="rect">
            <a:avLst/>
          </a:prstGeom>
          <a:ln w="0">
            <a:noFill/>
          </a:ln>
        </p:spPr>
      </p:pic>
      <p:pic>
        <p:nvPicPr>
          <p:cNvPr id="214" name="Picture 6" descr=""/>
          <p:cNvPicPr/>
          <p:nvPr/>
        </p:nvPicPr>
        <p:blipFill>
          <a:blip r:embed="rId2"/>
          <a:stretch/>
        </p:blipFill>
        <p:spPr>
          <a:xfrm>
            <a:off x="8015040" y="3633840"/>
            <a:ext cx="1667880" cy="1797840"/>
          </a:xfrm>
          <a:prstGeom prst="rect">
            <a:avLst/>
          </a:prstGeom>
          <a:ln w="0">
            <a:noFill/>
          </a:ln>
        </p:spPr>
      </p:pic>
      <p:pic>
        <p:nvPicPr>
          <p:cNvPr id="215" name="Picture 8" descr=""/>
          <p:cNvPicPr/>
          <p:nvPr/>
        </p:nvPicPr>
        <p:blipFill>
          <a:blip r:embed="rId3"/>
          <a:stretch/>
        </p:blipFill>
        <p:spPr>
          <a:xfrm>
            <a:off x="5780520" y="4533480"/>
            <a:ext cx="1667880" cy="1797840"/>
          </a:xfrm>
          <a:prstGeom prst="rect">
            <a:avLst/>
          </a:prstGeom>
          <a:ln w="0">
            <a:noFill/>
          </a:ln>
        </p:spPr>
      </p:pic>
      <p:pic>
        <p:nvPicPr>
          <p:cNvPr id="216" name="Picture 10" descr=""/>
          <p:cNvPicPr/>
          <p:nvPr/>
        </p:nvPicPr>
        <p:blipFill>
          <a:blip r:embed="rId4"/>
          <a:stretch/>
        </p:blipFill>
        <p:spPr>
          <a:xfrm>
            <a:off x="9804960" y="1424880"/>
            <a:ext cx="1721520" cy="1855440"/>
          </a:xfrm>
          <a:prstGeom prst="rect">
            <a:avLst/>
          </a:prstGeom>
          <a:ln w="0">
            <a:noFill/>
          </a:ln>
        </p:spPr>
      </p:pic>
      <p:pic>
        <p:nvPicPr>
          <p:cNvPr id="217" name="Picture 12" descr=""/>
          <p:cNvPicPr/>
          <p:nvPr/>
        </p:nvPicPr>
        <p:blipFill>
          <a:blip r:embed="rId5"/>
          <a:stretch/>
        </p:blipFill>
        <p:spPr>
          <a:xfrm>
            <a:off x="6884640" y="1776960"/>
            <a:ext cx="1721520" cy="185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11" dur="indefinite" restart="never" nodeType="tmRoot">
          <p:childTnLst>
            <p:seq>
              <p:cTn id="512" dur="indefinite" nodeType="mainSeq">
                <p:childTnLst>
                  <p:par>
                    <p:cTn id="513" fill="hold">
                      <p:stCondLst>
                        <p:cond delay="indefinite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7" fill="hold">
                            <p:stCondLst>
                              <p:cond delay="0"/>
                            </p:stCondLst>
                            <p:childTnLst>
                              <p:par>
                                <p:cTn id="518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0" fill="hold">
                            <p:stCondLst>
                              <p:cond delay="500"/>
                            </p:stCondLst>
                            <p:childTnLst>
                              <p:par>
                                <p:cTn id="521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3" fill="hold">
                            <p:stCondLst>
                              <p:cond delay="1000"/>
                            </p:stCondLst>
                            <p:childTnLst>
                              <p:par>
                                <p:cTn id="524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6" fill="hold">
                            <p:stCondLst>
                              <p:cond delay="1500"/>
                            </p:stCondLst>
                            <p:childTnLst>
                              <p:par>
                                <p:cTn id="527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9" fill="hold">
                      <p:stCondLst>
                        <p:cond delay="indefinite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3" fill="hold">
                            <p:stCondLst>
                              <p:cond delay="0"/>
                            </p:stCondLst>
                            <p:childTnLst>
                              <p:par>
                                <p:cTn id="534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6" fill="hold">
                            <p:stCondLst>
                              <p:cond delay="500"/>
                            </p:stCondLst>
                            <p:childTnLst>
                              <p:par>
                                <p:cTn id="537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9" fill="hold">
                            <p:stCondLst>
                              <p:cond delay="1000"/>
                            </p:stCondLst>
                            <p:childTnLst>
                              <p:par>
                                <p:cTn id="540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Type of Certificates </a:t>
            </a:r>
            <a:r>
              <a:rPr b="0" i="1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by validation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19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Domain validated (DV)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Organisation validated (OV)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Extended validation (EV)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80808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808080"/>
                </a:solidFill>
                <a:latin typeface="Calibri"/>
                <a:ea typeface="DejaVu Sans"/>
              </a:rPr>
              <a:t>Self-signed certificates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Domain Validated (DV) Certificates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21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No company information is vetted, only use of a domain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Letsencrypt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Pros: quick, cheap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Cons: clients can not be sure who is at the receiving end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Although</a:t>
            </a: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: clients can not really see the difference….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22" name="Picture 4" descr=""/>
          <p:cNvPicPr/>
          <p:nvPr/>
        </p:nvPicPr>
        <p:blipFill>
          <a:blip r:embed="rId1"/>
          <a:stretch/>
        </p:blipFill>
        <p:spPr>
          <a:xfrm>
            <a:off x="8836200" y="3068280"/>
            <a:ext cx="3354480" cy="335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Organisation Validated (OV) Certificates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24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Besides the right to use the domain, the CA also conducts vetting of the organisation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Pros: extra validation, enhanced trust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Cons: normal users don’t see the difference, more costly</a:t>
            </a:r>
            <a:br/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and process takes longer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latin typeface="Arial"/>
            </a:endParaRPr>
          </a:p>
        </p:txBody>
      </p:sp>
      <p:pic>
        <p:nvPicPr>
          <p:cNvPr id="225" name="Picture 3" descr=""/>
          <p:cNvPicPr/>
          <p:nvPr/>
        </p:nvPicPr>
        <p:blipFill>
          <a:blip r:embed="rId1"/>
          <a:stretch/>
        </p:blipFill>
        <p:spPr>
          <a:xfrm>
            <a:off x="8836200" y="3068280"/>
            <a:ext cx="3354480" cy="335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Extended Validation (EV) Certificates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27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Besides the right to use the domain, the CA also conducts </a:t>
            </a:r>
            <a:r>
              <a:rPr b="1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an extensive</a:t>
            </a: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vetting of the organisation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Pros: extra validation, enhanced trust, difference is visible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Cons: more expensive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latin typeface="Arial"/>
            </a:endParaRPr>
          </a:p>
        </p:txBody>
      </p:sp>
      <p:pic>
        <p:nvPicPr>
          <p:cNvPr id="228" name="Content Placeholder 4" descr=""/>
          <p:cNvPicPr/>
          <p:nvPr/>
        </p:nvPicPr>
        <p:blipFill>
          <a:blip r:embed="rId1"/>
          <a:stretch/>
        </p:blipFill>
        <p:spPr>
          <a:xfrm>
            <a:off x="6143040" y="4338360"/>
            <a:ext cx="5209560" cy="1837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Extended Validation (EV) Certificates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30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Besides the right to use the domain, the CA also conducts </a:t>
            </a:r>
            <a:r>
              <a:rPr b="1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an extensive</a:t>
            </a: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vetting of the organisation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Pros: extra validation, enhanced trust, </a:t>
            </a:r>
            <a:r>
              <a:rPr b="0" lang="nl-NL" sz="2800" spc="-1" strike="sngStrike">
                <a:solidFill>
                  <a:srgbClr val="000000"/>
                </a:solidFill>
                <a:latin typeface="Calibri"/>
                <a:ea typeface="DejaVu Sans"/>
              </a:rPr>
              <a:t>difference is visible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Cons: more expensive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latin typeface="Arial"/>
            </a:endParaRPr>
          </a:p>
        </p:txBody>
      </p:sp>
      <p:pic>
        <p:nvPicPr>
          <p:cNvPr id="231" name="" descr=""/>
          <p:cNvPicPr/>
          <p:nvPr/>
        </p:nvPicPr>
        <p:blipFill>
          <a:blip r:embed="rId1"/>
          <a:stretch/>
        </p:blipFill>
        <p:spPr>
          <a:xfrm>
            <a:off x="6143040" y="4338360"/>
            <a:ext cx="5514840" cy="208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DV vs OV vs EV</a:t>
            </a:r>
            <a:endParaRPr b="0" lang="en-US" sz="4400" spc="-1" strike="noStrike">
              <a:latin typeface="Arial"/>
            </a:endParaRPr>
          </a:p>
        </p:txBody>
      </p:sp>
      <p:graphicFrame>
        <p:nvGraphicFramePr>
          <p:cNvPr id="233" name="Table 2"/>
          <p:cNvGraphicFramePr/>
          <p:nvPr/>
        </p:nvGraphicFramePr>
        <p:xfrm>
          <a:off x="912600" y="2437560"/>
          <a:ext cx="5259600" cy="2363040"/>
        </p:xfrm>
        <a:graphic>
          <a:graphicData uri="http://schemas.openxmlformats.org/drawingml/2006/table">
            <a:tbl>
              <a:tblPr/>
              <a:tblGrid>
                <a:gridCol w="2010600"/>
                <a:gridCol w="959400"/>
                <a:gridCol w="1060200"/>
                <a:gridCol w="1229760"/>
              </a:tblGrid>
              <a:tr h="349920"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Arial"/>
                        </a:rPr>
                        <a:t>Characteristic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Arial"/>
                        </a:rPr>
                        <a:t>DV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Arial"/>
                        </a:rPr>
                        <a:t>OV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Arial"/>
                        </a:rPr>
                        <a:t>EV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38160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latin typeface="Arial"/>
                        </a:rPr>
                        <a:t>O= organisation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latin typeface="Arial"/>
                        </a:rPr>
                        <a:t>❌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latin typeface="Arial"/>
                        </a:rPr>
                        <a:t>✅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latin typeface="Arial"/>
                        </a:rPr>
                        <a:t>✅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398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latin typeface="Arial"/>
                        </a:rPr>
                        <a:t>OU= org. unit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latin typeface="Arial"/>
                        </a:rPr>
                        <a:t>❌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latin typeface="Arial"/>
                        </a:rPr>
                        <a:t>optional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latin typeface="Arial"/>
                        </a:rPr>
                        <a:t>optional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49680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latin typeface="Arial"/>
                        </a:rPr>
                        <a:t>Certificate Policies OID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latin typeface="Arial"/>
                        </a:rPr>
                        <a:t>1.2.1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latin typeface="Arial"/>
                        </a:rPr>
                        <a:t>1.2.2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latin typeface="Arial"/>
                        </a:rPr>
                        <a:t>1.1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499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latin typeface="Arial"/>
                        </a:rPr>
                        <a:t>Organisation validation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latin typeface="Arial"/>
                        </a:rPr>
                        <a:t>❌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latin typeface="Arial"/>
                        </a:rPr>
                        <a:t>Standard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latin typeface="Arial"/>
                        </a:rPr>
                        <a:t>Strict, legal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4453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latin typeface="Arial"/>
                        </a:rPr>
                        <a:t>Displayed in browser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latin typeface="Arial"/>
                        </a:rPr>
                        <a:t> </a:t>
                      </a:r>
                      <a:r>
                        <a:rPr b="0" lang="en-US" sz="900" spc="-1" strike="noStrike">
                          <a:latin typeface="Arial"/>
                        </a:rPr>
                        <a:t>(org name in</a:t>
                      </a:r>
                      <a:endParaRPr b="0" lang="en-US" sz="900" spc="-1" strike="noStrike">
                        <a:latin typeface="Arial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latin typeface="Arial"/>
                        </a:rPr>
                        <a:t>older browsers)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pic>
        <p:nvPicPr>
          <p:cNvPr id="234" name="Picture 3_0" descr=""/>
          <p:cNvPicPr/>
          <p:nvPr/>
        </p:nvPicPr>
        <p:blipFill>
          <a:blip r:embed="rId1"/>
          <a:stretch/>
        </p:blipFill>
        <p:spPr>
          <a:xfrm>
            <a:off x="4305600" y="4467960"/>
            <a:ext cx="227880" cy="227880"/>
          </a:xfrm>
          <a:prstGeom prst="rect">
            <a:avLst/>
          </a:prstGeom>
          <a:ln w="0">
            <a:noFill/>
          </a:ln>
        </p:spPr>
      </p:pic>
      <p:pic>
        <p:nvPicPr>
          <p:cNvPr id="235" name="Picture 3_1" descr=""/>
          <p:cNvPicPr/>
          <p:nvPr/>
        </p:nvPicPr>
        <p:blipFill>
          <a:blip r:embed="rId2"/>
          <a:stretch/>
        </p:blipFill>
        <p:spPr>
          <a:xfrm>
            <a:off x="3306600" y="4467960"/>
            <a:ext cx="227880" cy="227880"/>
          </a:xfrm>
          <a:prstGeom prst="rect">
            <a:avLst/>
          </a:prstGeom>
          <a:ln w="0">
            <a:noFill/>
          </a:ln>
        </p:spPr>
      </p:pic>
      <p:pic>
        <p:nvPicPr>
          <p:cNvPr id="236" name="Picture 3_2" descr=""/>
          <p:cNvPicPr/>
          <p:nvPr/>
        </p:nvPicPr>
        <p:blipFill>
          <a:blip r:embed="rId3"/>
          <a:stretch/>
        </p:blipFill>
        <p:spPr>
          <a:xfrm>
            <a:off x="5027400" y="4455360"/>
            <a:ext cx="227880" cy="227880"/>
          </a:xfrm>
          <a:prstGeom prst="rect">
            <a:avLst/>
          </a:prstGeom>
          <a:ln w="0">
            <a:noFill/>
          </a:ln>
        </p:spPr>
      </p:pic>
      <p:pic>
        <p:nvPicPr>
          <p:cNvPr id="237" name="" descr=""/>
          <p:cNvPicPr/>
          <p:nvPr/>
        </p:nvPicPr>
        <p:blipFill>
          <a:blip r:embed="rId4"/>
          <a:stretch/>
        </p:blipFill>
        <p:spPr>
          <a:xfrm>
            <a:off x="6629400" y="457200"/>
            <a:ext cx="4817880" cy="594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CustomShape 2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Trusting a CA – private CAs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40" name="CustomShape 3"/>
          <p:cNvSpPr/>
          <p:nvPr/>
        </p:nvSpPr>
        <p:spPr>
          <a:xfrm>
            <a:off x="838080" y="1825560"/>
            <a:ext cx="6705000" cy="183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Companies can have their own CA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By default not trusted by any device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241" name="CustomShape 4"/>
          <p:cNvSpPr/>
          <p:nvPr/>
        </p:nvSpPr>
        <p:spPr>
          <a:xfrm>
            <a:off x="4724280" y="4111560"/>
            <a:ext cx="6705000" cy="183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Cheaper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Sometimes only possibility (because they don’t have internet access)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Can define own standards (validity period, etc.)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latin typeface="Arial"/>
            </a:endParaRPr>
          </a:p>
        </p:txBody>
      </p:sp>
      <p:pic>
        <p:nvPicPr>
          <p:cNvPr id="242" name="" descr=""/>
          <p:cNvPicPr/>
          <p:nvPr/>
        </p:nvPicPr>
        <p:blipFill>
          <a:blip r:embed="rId1"/>
          <a:stretch/>
        </p:blipFill>
        <p:spPr>
          <a:xfrm>
            <a:off x="7772400" y="457200"/>
            <a:ext cx="3890880" cy="389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44" name="" descr=""/>
          <p:cNvPicPr/>
          <p:nvPr/>
        </p:nvPicPr>
        <p:blipFill>
          <a:blip r:embed="rId1"/>
          <a:stretch/>
        </p:blipFill>
        <p:spPr>
          <a:xfrm>
            <a:off x="3429000" y="1371600"/>
            <a:ext cx="5407560" cy="5485320"/>
          </a:xfrm>
          <a:prstGeom prst="rect">
            <a:avLst/>
          </a:prstGeom>
          <a:ln w="0">
            <a:noFill/>
          </a:ln>
        </p:spPr>
      </p:pic>
      <p:sp>
        <p:nvSpPr>
          <p:cNvPr id="245" name="CustomShape 2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Trusting a CA – private CAs</a:t>
            </a:r>
            <a:endParaRPr b="0" lang="en-US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" descr=""/>
          <p:cNvPicPr/>
          <p:nvPr/>
        </p:nvPicPr>
        <p:blipFill>
          <a:blip r:embed="rId1"/>
          <a:stretch/>
        </p:blipFill>
        <p:spPr>
          <a:xfrm>
            <a:off x="4183920" y="1630440"/>
            <a:ext cx="3816360" cy="4805640"/>
          </a:xfrm>
          <a:prstGeom prst="rect">
            <a:avLst/>
          </a:prstGeom>
          <a:ln w="0">
            <a:noFill/>
          </a:ln>
        </p:spPr>
      </p:pic>
      <p:sp>
        <p:nvSpPr>
          <p:cNvPr id="247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Trusting a CA – saving the certificate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248" name="" descr=""/>
          <p:cNvPicPr/>
          <p:nvPr/>
        </p:nvPicPr>
        <p:blipFill>
          <a:blip r:embed="rId2"/>
          <a:stretch/>
        </p:blipFill>
        <p:spPr>
          <a:xfrm>
            <a:off x="4183920" y="1630440"/>
            <a:ext cx="3816360" cy="4806000"/>
          </a:xfrm>
          <a:prstGeom prst="rect">
            <a:avLst/>
          </a:prstGeom>
          <a:ln w="0">
            <a:noFill/>
          </a:ln>
        </p:spPr>
      </p:pic>
      <p:pic>
        <p:nvPicPr>
          <p:cNvPr id="249" name="" descr=""/>
          <p:cNvPicPr/>
          <p:nvPr/>
        </p:nvPicPr>
        <p:blipFill>
          <a:blip r:embed="rId3"/>
          <a:stretch/>
        </p:blipFill>
        <p:spPr>
          <a:xfrm>
            <a:off x="4183920" y="1630440"/>
            <a:ext cx="3816360" cy="4805640"/>
          </a:xfrm>
          <a:prstGeom prst="rect">
            <a:avLst/>
          </a:prstGeom>
          <a:ln w="0">
            <a:noFill/>
          </a:ln>
        </p:spPr>
      </p:pic>
      <p:pic>
        <p:nvPicPr>
          <p:cNvPr id="250" name="Picture 16_1" descr=""/>
          <p:cNvPicPr/>
          <p:nvPr/>
        </p:nvPicPr>
        <p:blipFill>
          <a:blip r:embed="rId4"/>
          <a:stretch/>
        </p:blipFill>
        <p:spPr>
          <a:xfrm>
            <a:off x="3547800" y="1554480"/>
            <a:ext cx="5138280" cy="4974840"/>
          </a:xfrm>
          <a:prstGeom prst="rect">
            <a:avLst/>
          </a:prstGeom>
          <a:ln w="0">
            <a:noFill/>
          </a:ln>
        </p:spPr>
      </p:pic>
      <p:pic>
        <p:nvPicPr>
          <p:cNvPr id="251" name="" descr=""/>
          <p:cNvPicPr/>
          <p:nvPr/>
        </p:nvPicPr>
        <p:blipFill>
          <a:blip r:embed="rId5"/>
          <a:stretch/>
        </p:blipFill>
        <p:spPr>
          <a:xfrm>
            <a:off x="3564720" y="1554120"/>
            <a:ext cx="5121360" cy="4959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42" dur="indefinite" restart="never" nodeType="tmRoot">
          <p:childTnLst>
            <p:seq>
              <p:cTn id="543" dur="indefinite" nodeType="mainSeq">
                <p:childTnLst>
                  <p:par>
                    <p:cTn id="544" fill="hold">
                      <p:stCondLst>
                        <p:cond delay="0"/>
                      </p:stCondLst>
                      <p:childTnLst>
                        <p:par>
                          <p:cTn id="545" fill="hold">
                            <p:stCondLst>
                              <p:cond delay="0"/>
                            </p:stCondLst>
                            <p:childTnLst>
                              <p:par>
                                <p:cTn id="546" nodeType="withEffect" fill="hold" presetClass="entr" presetID="1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8" fill="hold">
                      <p:stCondLst>
                        <p:cond delay="indefinite"/>
                      </p:stCondLst>
                      <p:childTnLst>
                        <p:par>
                          <p:cTn id="549" fill="hold">
                            <p:stCondLst>
                              <p:cond delay="0"/>
                            </p:stCondLst>
                            <p:childTnLst>
                              <p:par>
                                <p:cTn id="550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552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3" fill="hold">
                      <p:stCondLst>
                        <p:cond delay="indefinite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id="555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55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8" fill="hold">
                      <p:stCondLst>
                        <p:cond delay="indefinite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id="560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562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3" fill="hold">
                      <p:stCondLst>
                        <p:cond delay="indefinite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id="565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567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Trusting a CA – adding to truststore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253" name="Content Placeholder 4_1" descr=""/>
          <p:cNvPicPr/>
          <p:nvPr/>
        </p:nvPicPr>
        <p:blipFill>
          <a:blip r:embed="rId1"/>
          <a:stretch/>
        </p:blipFill>
        <p:spPr>
          <a:xfrm>
            <a:off x="2871720" y="1266480"/>
            <a:ext cx="6447240" cy="5590080"/>
          </a:xfrm>
          <a:prstGeom prst="rect">
            <a:avLst/>
          </a:prstGeom>
          <a:ln w="0">
            <a:noFill/>
          </a:ln>
        </p:spPr>
      </p:pic>
      <p:pic>
        <p:nvPicPr>
          <p:cNvPr id="254" name="Picture 6_1" descr=""/>
          <p:cNvPicPr/>
          <p:nvPr/>
        </p:nvPicPr>
        <p:blipFill>
          <a:blip r:embed="rId2"/>
          <a:stretch/>
        </p:blipFill>
        <p:spPr>
          <a:xfrm>
            <a:off x="2871720" y="1266480"/>
            <a:ext cx="6447240" cy="5590080"/>
          </a:xfrm>
          <a:prstGeom prst="rect">
            <a:avLst/>
          </a:prstGeom>
          <a:ln w="0">
            <a:noFill/>
          </a:ln>
        </p:spPr>
      </p:pic>
      <p:pic>
        <p:nvPicPr>
          <p:cNvPr id="255" name="" descr=""/>
          <p:cNvPicPr/>
          <p:nvPr/>
        </p:nvPicPr>
        <p:blipFill>
          <a:blip r:embed="rId3"/>
          <a:stretch/>
        </p:blipFill>
        <p:spPr>
          <a:xfrm>
            <a:off x="1591200" y="1524600"/>
            <a:ext cx="8923320" cy="5027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68" dur="indefinite" restart="never" nodeType="tmRoot">
          <p:childTnLst>
            <p:seq>
              <p:cTn id="569" dur="indefinite" nodeType="mainSeq">
                <p:childTnLst>
                  <p:par>
                    <p:cTn id="570" fill="hold">
                      <p:stCondLst>
                        <p:cond delay="indefinite"/>
                      </p:stCondLst>
                      <p:childTnLst>
                        <p:par>
                          <p:cTn id="571" fill="hold">
                            <p:stCondLst>
                              <p:cond delay="0"/>
                            </p:stCondLst>
                            <p:childTnLst>
                              <p:par>
                                <p:cTn id="572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574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5" fill="hold">
                      <p:stCondLst>
                        <p:cond delay="indefinite"/>
                      </p:stCondLst>
                      <p:childTnLst>
                        <p:par>
                          <p:cTn id="576" fill="hold">
                            <p:stCondLst>
                              <p:cond delay="0"/>
                            </p:stCondLst>
                            <p:childTnLst>
                              <p:par>
                                <p:cTn id="577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579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Trusting a CA – adding to truststore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257" name="" descr=""/>
          <p:cNvPicPr/>
          <p:nvPr/>
        </p:nvPicPr>
        <p:blipFill>
          <a:blip r:embed="rId1"/>
          <a:stretch/>
        </p:blipFill>
        <p:spPr>
          <a:xfrm>
            <a:off x="3146400" y="2612520"/>
            <a:ext cx="5996880" cy="3160080"/>
          </a:xfrm>
          <a:prstGeom prst="rect">
            <a:avLst/>
          </a:prstGeom>
          <a:ln w="0">
            <a:noFill/>
          </a:ln>
        </p:spPr>
      </p:pic>
      <p:pic>
        <p:nvPicPr>
          <p:cNvPr id="258" name="" descr=""/>
          <p:cNvPicPr/>
          <p:nvPr/>
        </p:nvPicPr>
        <p:blipFill>
          <a:blip r:embed="rId2"/>
          <a:stretch/>
        </p:blipFill>
        <p:spPr>
          <a:xfrm>
            <a:off x="3065400" y="1465920"/>
            <a:ext cx="6077880" cy="5270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80" dur="indefinite" restart="never" nodeType="tmRoot">
          <p:childTnLst>
            <p:seq>
              <p:cTn id="581" dur="indefinite" nodeType="mainSeq">
                <p:childTnLst>
                  <p:par>
                    <p:cTn id="582" fill="hold">
                      <p:stCondLst>
                        <p:cond delay="indefinite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id="584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586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Trusting a CA – adding to truststore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260" name="" descr=""/>
          <p:cNvPicPr/>
          <p:nvPr/>
        </p:nvPicPr>
        <p:blipFill>
          <a:blip r:embed="rId1"/>
          <a:stretch/>
        </p:blipFill>
        <p:spPr>
          <a:xfrm>
            <a:off x="3979080" y="2286000"/>
            <a:ext cx="4266360" cy="341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Type of Certificates </a:t>
            </a:r>
            <a:r>
              <a:rPr b="0" i="1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by domain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62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Single domain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Multi domain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Wildcard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87" dur="indefinite" restart="never" nodeType="tmRoot">
          <p:childTnLst>
            <p:seq>
              <p:cTn id="588" dur="indefinite" nodeType="mainSeq">
                <p:childTnLst>
                  <p:par>
                    <p:cTn id="589" fill="hold">
                      <p:stCondLst>
                        <p:cond delay="0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id="591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3" fill="hold">
                            <p:stCondLst>
                              <p:cond delay="0"/>
                            </p:stCondLst>
                            <p:childTnLst>
                              <p:par>
                                <p:cTn id="594" nodeType="afterEffect" fill="hold" presetClass="entr" presetID="1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6" fill="hold">
                            <p:stCondLst>
                              <p:cond delay="1000"/>
                            </p:stCondLst>
                            <p:childTnLst>
                              <p:par>
                                <p:cTn id="597" nodeType="afterEffect" fill="hold" presetClass="entr" presetID="1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Multi domain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64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SANs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ubject </a:t>
            </a:r>
            <a:r>
              <a:rPr b="1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lternative </a:t>
            </a:r>
            <a:r>
              <a:rPr b="1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N</a:t>
            </a: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ames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Pros: same website can be served under</a:t>
            </a:r>
            <a:br/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different domain names with same</a:t>
            </a:r>
            <a:br/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certificate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But beware ..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latin typeface="Arial"/>
            </a:endParaRPr>
          </a:p>
        </p:txBody>
      </p:sp>
      <p:pic>
        <p:nvPicPr>
          <p:cNvPr id="265" name="Picture 4" descr=""/>
          <p:cNvPicPr/>
          <p:nvPr/>
        </p:nvPicPr>
        <p:blipFill>
          <a:blip r:embed="rId1"/>
          <a:stretch/>
        </p:blipFill>
        <p:spPr>
          <a:xfrm>
            <a:off x="7580520" y="1027800"/>
            <a:ext cx="3856680" cy="4857120"/>
          </a:xfrm>
          <a:prstGeom prst="rect">
            <a:avLst/>
          </a:prstGeom>
          <a:ln w="0">
            <a:noFill/>
          </a:ln>
        </p:spPr>
      </p:pic>
      <p:pic>
        <p:nvPicPr>
          <p:cNvPr id="266" name="Picture 6" descr=""/>
          <p:cNvPicPr/>
          <p:nvPr/>
        </p:nvPicPr>
        <p:blipFill>
          <a:blip r:embed="rId2"/>
          <a:stretch/>
        </p:blipFill>
        <p:spPr>
          <a:xfrm>
            <a:off x="7580520" y="1027800"/>
            <a:ext cx="3856680" cy="4857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99" dur="indefinite" restart="never" nodeType="tmRoot">
          <p:childTnLst>
            <p:seq>
              <p:cTn id="600" dur="indefinite" nodeType="mainSeq">
                <p:childTnLst>
                  <p:par>
                    <p:cTn id="601" fill="hold">
                      <p:stCondLst>
                        <p:cond delay="indefinite"/>
                      </p:stCondLst>
                      <p:childTnLst>
                        <p:par>
                          <p:cTn id="602" fill="hold">
                            <p:stCondLst>
                              <p:cond delay="0"/>
                            </p:stCondLst>
                            <p:childTnLst>
                              <p:par>
                                <p:cTn id="6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5" fill="hold">
                      <p:stCondLst>
                        <p:cond delay="indefinite"/>
                      </p:stCondLst>
                      <p:childTnLst>
                        <p:par>
                          <p:cTn id="606" fill="hold">
                            <p:stCondLst>
                              <p:cond delay="0"/>
                            </p:stCondLst>
                            <p:childTnLst>
                              <p:par>
                                <p:cTn id="6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9" fill="hold">
                      <p:stCondLst>
                        <p:cond delay="indefinite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3" fill="hold">
                      <p:stCondLst>
                        <p:cond delay="indefinite"/>
                      </p:stCondLst>
                      <p:childTnLst>
                        <p:par>
                          <p:cTn id="614" fill="hold">
                            <p:stCondLst>
                              <p:cond delay="0"/>
                            </p:stCondLst>
                            <p:childTnLst>
                              <p:par>
                                <p:cTn id="6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7" fill="hold">
                      <p:stCondLst>
                        <p:cond delay="indefinite"/>
                      </p:stCondLst>
                      <p:childTnLst>
                        <p:par>
                          <p:cTn id="618" fill="hold">
                            <p:stCondLst>
                              <p:cond delay="0"/>
                            </p:stCondLst>
                            <p:childTnLst>
                              <p:par>
                                <p:cTn id="6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1" fill="hold">
                      <p:stCondLst>
                        <p:cond delay="indefinite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25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6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Wildcard Certificates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68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PROs : will work for any subdomain (convenience)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CONs : weakest link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269" name="Picture 4" descr=""/>
          <p:cNvPicPr/>
          <p:nvPr/>
        </p:nvPicPr>
        <p:blipFill>
          <a:blip r:embed="rId1"/>
          <a:stretch/>
        </p:blipFill>
        <p:spPr>
          <a:xfrm>
            <a:off x="6678360" y="3128760"/>
            <a:ext cx="4570920" cy="304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algn="ctr">
              <a:lnSpc>
                <a:spcPct val="3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nl-NL" sz="6000" spc="-1" strike="noStrike">
                <a:solidFill>
                  <a:srgbClr val="000000"/>
                </a:solidFill>
                <a:latin typeface="Calibri"/>
                <a:ea typeface="DejaVu Sans"/>
              </a:rPr>
              <a:t>Almost there……….</a:t>
            </a:r>
            <a:endParaRPr b="0" lang="en-US" sz="6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Related concepts / technologies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73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ETS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Server Name Indication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HTTP Strict Transport Security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Public Key Pinning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OCSP (Stapling)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CAA Record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Some vulnerabilities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ETS / eTLS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75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Enterprise Transport Security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Exra Terrible Security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Weakened version of TLSv1.3, developed by ETSI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Removes Forward Secrecy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76" name="Picture 2" descr=""/>
          <p:cNvPicPr/>
          <p:nvPr/>
        </p:nvPicPr>
        <p:blipFill>
          <a:blip r:embed="rId1"/>
          <a:stretch/>
        </p:blipFill>
        <p:spPr>
          <a:xfrm>
            <a:off x="6893640" y="4136400"/>
            <a:ext cx="3729240" cy="1629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27" dur="indefinite" restart="never" nodeType="tmRoot">
          <p:childTnLst>
            <p:seq>
              <p:cTn id="628" dur="indefinite" nodeType="mainSeq">
                <p:childTnLst>
                  <p:par>
                    <p:cTn id="629" fill="hold">
                      <p:stCondLst>
                        <p:cond delay="indefinite"/>
                      </p:stCondLst>
                      <p:childTnLst>
                        <p:par>
                          <p:cTn id="630" fill="hold">
                            <p:stCondLst>
                              <p:cond delay="0"/>
                            </p:stCondLst>
                            <p:childTnLst>
                              <p:par>
                                <p:cTn id="631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33" dur="500" fill="hold"/>
                                        <p:tgtEl>
                                          <p:spTgt spid="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4" dur="500" fill="hold"/>
                                        <p:tgtEl>
                                          <p:spTgt spid="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5" fill="hold">
                      <p:stCondLst>
                        <p:cond delay="indefinite"/>
                      </p:stCondLst>
                      <p:childTnLst>
                        <p:par>
                          <p:cTn id="636" fill="hold">
                            <p:stCondLst>
                              <p:cond delay="0"/>
                            </p:stCondLst>
                            <p:childTnLst>
                              <p:par>
                                <p:cTn id="6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9" nodeType="with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1" fill="hold">
                      <p:stCondLst>
                        <p:cond delay="indefinite"/>
                      </p:stCondLst>
                      <p:childTnLst>
                        <p:par>
                          <p:cTn id="642" fill="hold">
                            <p:stCondLst>
                              <p:cond delay="0"/>
                            </p:stCondLst>
                            <p:childTnLst>
                              <p:par>
                                <p:cTn id="6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1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S</a:t>
            </a: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erver </a:t>
            </a:r>
            <a:r>
              <a:rPr b="1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N</a:t>
            </a: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ame </a:t>
            </a:r>
            <a:r>
              <a:rPr b="1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I</a:t>
            </a: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ndication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78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Extension of TLS Protocol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Hostname included in TLS handshake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To enable multiple certificates on same IP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ff0000"/>
                </a:solidFill>
                <a:latin typeface="Calibri"/>
                <a:ea typeface="DejaVu Sans"/>
              </a:rPr>
              <a:t>Not every client supports this (by default)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45" dur="indefinite" restart="never" nodeType="tmRoot">
          <p:childTnLst>
            <p:seq>
              <p:cTn id="646" dur="indefinite" nodeType="mainSeq">
                <p:childTnLst>
                  <p:par>
                    <p:cTn id="647" fill="hold">
                      <p:stCondLst>
                        <p:cond delay="indefinite"/>
                      </p:stCondLst>
                      <p:childTnLst>
                        <p:par>
                          <p:cTn id="648" fill="hold">
                            <p:stCondLst>
                              <p:cond delay="0"/>
                            </p:stCondLst>
                            <p:childTnLst>
                              <p:par>
                                <p:cTn id="6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1" fill="hold">
                      <p:stCondLst>
                        <p:cond delay="indefinite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5" fill="hold">
                      <p:stCondLst>
                        <p:cond delay="indefinite"/>
                      </p:stCondLst>
                      <p:childTnLst>
                        <p:par>
                          <p:cTn id="656" fill="hold">
                            <p:stCondLst>
                              <p:cond delay="0"/>
                            </p:stCondLst>
                            <p:childTnLst>
                              <p:par>
                                <p:cTn id="6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9" fill="hold">
                      <p:stCondLst>
                        <p:cond delay="indefinite"/>
                      </p:stCondLst>
                      <p:childTnLst>
                        <p:par>
                          <p:cTn id="660" fill="hold">
                            <p:stCondLst>
                              <p:cond delay="0"/>
                            </p:stCondLst>
                            <p:childTnLst>
                              <p:par>
                                <p:cTn id="6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1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S</a:t>
            </a: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erver </a:t>
            </a:r>
            <a:r>
              <a:rPr b="1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N</a:t>
            </a: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ame </a:t>
            </a:r>
            <a:r>
              <a:rPr b="1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I</a:t>
            </a: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ndication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280" name="Picture 6" descr=""/>
          <p:cNvPicPr/>
          <p:nvPr/>
        </p:nvPicPr>
        <p:blipFill>
          <a:blip r:embed="rId1"/>
          <a:stretch/>
        </p:blipFill>
        <p:spPr>
          <a:xfrm>
            <a:off x="838080" y="2097720"/>
            <a:ext cx="10746720" cy="3055680"/>
          </a:xfrm>
          <a:prstGeom prst="rect">
            <a:avLst/>
          </a:prstGeom>
          <a:ln w="0">
            <a:noFill/>
          </a:ln>
        </p:spPr>
      </p:pic>
      <p:pic>
        <p:nvPicPr>
          <p:cNvPr id="281" name="Content Placeholder 4" descr=""/>
          <p:cNvPicPr/>
          <p:nvPr/>
        </p:nvPicPr>
        <p:blipFill>
          <a:blip r:embed="rId2"/>
          <a:stretch/>
        </p:blipFill>
        <p:spPr>
          <a:xfrm>
            <a:off x="838080" y="2097720"/>
            <a:ext cx="10746720" cy="308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63" dur="indefinite" restart="never" nodeType="tmRoot">
          <p:childTnLst>
            <p:seq>
              <p:cTn id="664" dur="indefinite" nodeType="mainSeq">
                <p:childTnLst>
                  <p:par>
                    <p:cTn id="665" fill="hold">
                      <p:stCondLst>
                        <p:cond delay="0"/>
                      </p:stCondLst>
                      <p:childTnLst>
                        <p:par>
                          <p:cTn id="666" fill="hold">
                            <p:stCondLst>
                              <p:cond delay="0"/>
                            </p:stCondLst>
                            <p:childTnLst>
                              <p:par>
                                <p:cTn id="667" nodeType="after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69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0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71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2" fill="hold">
                      <p:stCondLst>
                        <p:cond delay="indefinite"/>
                      </p:stCondLst>
                      <p:childTnLst>
                        <p:par>
                          <p:cTn id="673" fill="hold">
                            <p:stCondLst>
                              <p:cond delay="0"/>
                            </p:stCondLst>
                            <p:childTnLst>
                              <p:par>
                                <p:cTn id="67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Encrypted SNI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83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Remember:</a:t>
            </a: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ffc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ffc000"/>
                </a:solidFill>
                <a:latin typeface="Calibri"/>
                <a:ea typeface="DejaVu Sans"/>
              </a:rPr>
              <a:t>Domain name </a:t>
            </a:r>
            <a:r>
              <a:rPr b="0" lang="nl-NL" sz="2400" spc="-1" strike="noStrike">
                <a:solidFill>
                  <a:srgbClr val="00b050"/>
                </a:solidFill>
                <a:latin typeface="Calibri"/>
                <a:ea typeface="DejaVu Sans"/>
              </a:rPr>
              <a:t>(in header)</a:t>
            </a:r>
            <a:endParaRPr b="0" lang="en-US" sz="24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Expands on TLSv1.3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https://tools.ietf.org/html/draft-rescorla-tls-esni-00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76" dur="indefinite" restart="never" nodeType="tmRoot">
          <p:childTnLst>
            <p:seq>
              <p:cTn id="677" dur="indefinite" nodeType="mainSeq">
                <p:childTnLst>
                  <p:par>
                    <p:cTn id="678" fill="hold">
                      <p:stCondLst>
                        <p:cond delay="indefinite"/>
                      </p:stCondLst>
                      <p:childTnLst>
                        <p:par>
                          <p:cTn id="679" fill="hold">
                            <p:stCondLst>
                              <p:cond delay="0"/>
                            </p:stCondLst>
                            <p:childTnLst>
                              <p:par>
                                <p:cTn id="68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2" fill="hold">
                            <p:stCondLst>
                              <p:cond delay="0"/>
                            </p:stCondLst>
                            <p:childTnLst>
                              <p:par>
                                <p:cTn id="683" nodeType="afterEffect" fill="hold" presetClass="entr" presetID="2" presetSubtype="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85" dur="500" fill="hold"/>
                                        <p:tgtEl>
                                          <p:spTgt spid="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86" dur="500" fill="hold"/>
                                        <p:tgtEl>
                                          <p:spTgt spid="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7" fill="hold">
                      <p:stCondLst>
                        <p:cond delay="indefinite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1" fill="hold">
                            <p:stCondLst>
                              <p:cond delay="0"/>
                            </p:stCondLst>
                            <p:childTnLst>
                              <p:par>
                                <p:cTn id="692" nodeType="afterEffect" fill="hold" presetClass="entr" presetID="1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Question!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285" name="Content Placeholder 4" descr=""/>
          <p:cNvPicPr/>
          <p:nvPr/>
        </p:nvPicPr>
        <p:blipFill>
          <a:blip r:embed="rId1"/>
          <a:stretch/>
        </p:blipFill>
        <p:spPr>
          <a:xfrm>
            <a:off x="223920" y="1941840"/>
            <a:ext cx="11795400" cy="3396240"/>
          </a:xfrm>
          <a:prstGeom prst="rect">
            <a:avLst/>
          </a:prstGeom>
          <a:ln w="0">
            <a:noFill/>
          </a:ln>
        </p:spPr>
      </p:pic>
      <p:pic>
        <p:nvPicPr>
          <p:cNvPr id="286" name="Picture 8" descr=""/>
          <p:cNvPicPr/>
          <p:nvPr/>
        </p:nvPicPr>
        <p:blipFill>
          <a:blip r:embed="rId2"/>
          <a:stretch/>
        </p:blipFill>
        <p:spPr>
          <a:xfrm>
            <a:off x="223920" y="1941840"/>
            <a:ext cx="11795400" cy="3396240"/>
          </a:xfrm>
          <a:prstGeom prst="rect">
            <a:avLst/>
          </a:prstGeom>
          <a:ln w="0">
            <a:noFill/>
          </a:ln>
        </p:spPr>
      </p:pic>
      <p:pic>
        <p:nvPicPr>
          <p:cNvPr id="287" name="Picture 6" descr=""/>
          <p:cNvPicPr/>
          <p:nvPr/>
        </p:nvPicPr>
        <p:blipFill>
          <a:blip r:embed="rId3"/>
          <a:stretch/>
        </p:blipFill>
        <p:spPr>
          <a:xfrm>
            <a:off x="223920" y="1941840"/>
            <a:ext cx="11795400" cy="3354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94" dur="indefinite" restart="never" nodeType="tmRoot">
          <p:childTnLst>
            <p:seq>
              <p:cTn id="695" dur="indefinite" nodeType="mainSeq">
                <p:childTnLst>
                  <p:par>
                    <p:cTn id="696" fill="hold">
                      <p:stCondLst>
                        <p:cond delay="indefinite"/>
                      </p:stCondLst>
                      <p:childTnLst>
                        <p:par>
                          <p:cTn id="697" fill="hold">
                            <p:stCondLst>
                              <p:cond delay="0"/>
                            </p:stCondLst>
                            <p:childTnLst>
                              <p:par>
                                <p:cTn id="698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700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1" fill="hold">
                      <p:stCondLst>
                        <p:cond delay="indefinite"/>
                      </p:stCondLst>
                      <p:childTnLst>
                        <p:par>
                          <p:cTn id="702" fill="hold">
                            <p:stCondLst>
                              <p:cond delay="0"/>
                            </p:stCondLst>
                            <p:childTnLst>
                              <p:par>
                                <p:cTn id="7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5" fill="hold">
                      <p:stCondLst>
                        <p:cond delay="indefinite"/>
                      </p:stCondLst>
                      <p:childTnLst>
                        <p:par>
                          <p:cTn id="706" fill="hold">
                            <p:stCondLst>
                              <p:cond delay="0"/>
                            </p:stCondLst>
                            <p:childTnLst>
                              <p:par>
                                <p:cTn id="707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709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1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H</a:t>
            </a: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TTP </a:t>
            </a:r>
            <a:r>
              <a:rPr b="1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S</a:t>
            </a: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trict </a:t>
            </a:r>
            <a:r>
              <a:rPr b="1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T</a:t>
            </a: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ransport </a:t>
            </a:r>
            <a:r>
              <a:rPr b="1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S</a:t>
            </a: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ecurity (HSTS)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89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 web security policy that prevents websites being loaded over (plain) HTTP</a:t>
            </a: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First visit is needed</a:t>
            </a:r>
            <a:endParaRPr b="0" lang="en-US" sz="2400" spc="-1" strike="noStrike">
              <a:latin typeface="Arial"/>
            </a:endParaRPr>
          </a:p>
          <a:p>
            <a:pPr lvl="2" marL="11430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Unless preloaded</a:t>
            </a:r>
            <a:endParaRPr b="0" lang="en-US" sz="20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Can include subdomains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Always has a TTL</a:t>
            </a:r>
            <a:endParaRPr b="0" lang="en-US" sz="24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Zero Tolerancy Mode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Beware : requires tight management of certificates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290" name="Picture 6" descr=""/>
          <p:cNvPicPr/>
          <p:nvPr/>
        </p:nvPicPr>
        <p:blipFill>
          <a:blip r:embed="rId1"/>
          <a:stretch/>
        </p:blipFill>
        <p:spPr>
          <a:xfrm>
            <a:off x="5011920" y="2601000"/>
            <a:ext cx="6962400" cy="1398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10" dur="indefinite" restart="never" nodeType="tmRoot">
          <p:childTnLst>
            <p:seq>
              <p:cTn id="711" dur="indefinite" nodeType="mainSeq">
                <p:childTnLst>
                  <p:par>
                    <p:cTn id="712" fill="hold">
                      <p:stCondLst>
                        <p:cond delay="indefinite"/>
                      </p:stCondLst>
                      <p:childTnLst>
                        <p:par>
                          <p:cTn id="713" fill="hold">
                            <p:stCondLst>
                              <p:cond delay="0"/>
                            </p:stCondLst>
                            <p:childTnLst>
                              <p:par>
                                <p:cTn id="71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4" fill="hold">
                      <p:stCondLst>
                        <p:cond delay="indefinite"/>
                      </p:stCondLst>
                      <p:childTnLst>
                        <p:par>
                          <p:cTn id="725" fill="hold">
                            <p:stCondLst>
                              <p:cond delay="0"/>
                            </p:stCondLst>
                            <p:childTnLst>
                              <p:par>
                                <p:cTn id="72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8" fill="hold">
                            <p:stCondLst>
                              <p:cond delay="0"/>
                            </p:stCondLst>
                            <p:childTnLst>
                              <p:par>
                                <p:cTn id="729" nodeType="after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731" dur="1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2" fill="hold">
                      <p:stCondLst>
                        <p:cond delay="indefinite"/>
                      </p:stCondLst>
                      <p:childTnLst>
                        <p:par>
                          <p:cTn id="733" fill="hold">
                            <p:stCondLst>
                              <p:cond delay="0"/>
                            </p:stCondLst>
                            <p:childTnLst>
                              <p:par>
                                <p:cTn id="73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HTTP Public Key Pinning (HPKP)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92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Pinning is the process of associating a host with their 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expected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 public key (or those of any intermediate certificate)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293" name="Picture 6" descr=""/>
          <p:cNvPicPr/>
          <p:nvPr/>
        </p:nvPicPr>
        <p:blipFill>
          <a:blip r:embed="rId1"/>
          <a:stretch/>
        </p:blipFill>
        <p:spPr>
          <a:xfrm>
            <a:off x="6609960" y="4034880"/>
            <a:ext cx="3685320" cy="2456280"/>
          </a:xfrm>
          <a:prstGeom prst="rect">
            <a:avLst/>
          </a:prstGeom>
          <a:ln w="0">
            <a:noFill/>
          </a:ln>
        </p:spPr>
      </p:pic>
      <p:pic>
        <p:nvPicPr>
          <p:cNvPr id="294" name="Picture 4" descr=""/>
          <p:cNvPicPr/>
          <p:nvPr/>
        </p:nvPicPr>
        <p:blipFill>
          <a:blip r:embed="rId2"/>
          <a:stretch/>
        </p:blipFill>
        <p:spPr>
          <a:xfrm>
            <a:off x="9504720" y="3239640"/>
            <a:ext cx="1850400" cy="1850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36" dur="indefinite" restart="never" nodeType="tmRoot">
          <p:childTnLst>
            <p:seq>
              <p:cTn id="737" dur="indefinite" nodeType="mainSeq">
                <p:childTnLst>
                  <p:par>
                    <p:cTn id="738" fill="hold">
                      <p:stCondLst>
                        <p:cond delay="indefinite"/>
                      </p:stCondLst>
                      <p:childTnLst>
                        <p:par>
                          <p:cTn id="739" fill="hold">
                            <p:stCondLst>
                              <p:cond delay="0"/>
                            </p:stCondLst>
                            <p:childTnLst>
                              <p:par>
                                <p:cTn id="74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HTTP Public Key Pinning (HPKP)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96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Pinning is the process of associating a host with their 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expected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 public key (or those of any intermediate certificate)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297" name="Picture 8" descr=""/>
          <p:cNvPicPr/>
          <p:nvPr/>
        </p:nvPicPr>
        <p:blipFill>
          <a:blip r:embed="rId1"/>
          <a:stretch/>
        </p:blipFill>
        <p:spPr>
          <a:xfrm>
            <a:off x="2299680" y="4001400"/>
            <a:ext cx="7590960" cy="218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HTTP Public Key Pinning (HPKP)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99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Pinning is the process of associating a host with their 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expected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 public key (or those of any intermediate certificate)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Even more dangerous! 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Alternatives : Certificate transparency logs and CAA records</a:t>
            </a:r>
            <a:br/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(Expect-CT)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Deprecated by Google late 2017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300" name="Picture 6" descr=""/>
          <p:cNvPicPr/>
          <p:nvPr/>
        </p:nvPicPr>
        <p:blipFill>
          <a:blip r:embed="rId1"/>
          <a:stretch/>
        </p:blipFill>
        <p:spPr>
          <a:xfrm>
            <a:off x="6609960" y="4034880"/>
            <a:ext cx="3685320" cy="2456280"/>
          </a:xfrm>
          <a:prstGeom prst="rect">
            <a:avLst/>
          </a:prstGeom>
          <a:ln w="0">
            <a:noFill/>
          </a:ln>
        </p:spPr>
      </p:pic>
      <p:pic>
        <p:nvPicPr>
          <p:cNvPr id="301" name="Picture 4" descr=""/>
          <p:cNvPicPr/>
          <p:nvPr/>
        </p:nvPicPr>
        <p:blipFill>
          <a:blip r:embed="rId2"/>
          <a:stretch/>
        </p:blipFill>
        <p:spPr>
          <a:xfrm>
            <a:off x="9504720" y="3239640"/>
            <a:ext cx="1850400" cy="1850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42" dur="indefinite" restart="never" nodeType="tmRoot">
          <p:childTnLst>
            <p:seq>
              <p:cTn id="743" dur="indefinite" nodeType="mainSeq">
                <p:childTnLst>
                  <p:par>
                    <p:cTn id="744" fill="hold">
                      <p:stCondLst>
                        <p:cond delay="indefinite"/>
                      </p:stCondLst>
                      <p:childTnLst>
                        <p:par>
                          <p:cTn id="745" fill="hold">
                            <p:stCondLst>
                              <p:cond delay="0"/>
                            </p:stCondLst>
                            <p:childTnLst>
                              <p:par>
                                <p:cTn id="74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8" fill="hold">
                      <p:stCondLst>
                        <p:cond delay="indefinite"/>
                      </p:stCondLst>
                      <p:childTnLst>
                        <p:par>
                          <p:cTn id="749" fill="hold">
                            <p:stCondLst>
                              <p:cond delay="0"/>
                            </p:stCondLst>
                            <p:childTnLst>
                              <p:par>
                                <p:cTn id="75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OCSP (en CRL)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03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304" name="Table 3"/>
          <p:cNvGraphicFramePr/>
          <p:nvPr/>
        </p:nvGraphicFramePr>
        <p:xfrm>
          <a:off x="967320" y="2095560"/>
          <a:ext cx="10462320" cy="2148120"/>
        </p:xfrm>
        <a:graphic>
          <a:graphicData uri="http://schemas.openxmlformats.org/drawingml/2006/table">
            <a:tbl>
              <a:tblPr/>
              <a:tblGrid>
                <a:gridCol w="945360"/>
                <a:gridCol w="1785240"/>
                <a:gridCol w="3017520"/>
                <a:gridCol w="4714560"/>
              </a:tblGrid>
              <a:tr h="361800"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latin typeface="Arial"/>
                        </a:rPr>
                        <a:t>Level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latin typeface="Arial"/>
                        </a:rPr>
                        <a:t>Purpose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latin typeface="Arial"/>
                        </a:rPr>
                        <a:t>Used by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90900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latin typeface="Arial"/>
                        </a:rPr>
                        <a:t>CRL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latin typeface="Arial"/>
                        </a:rPr>
                        <a:t>C</a:t>
                      </a:r>
                      <a:r>
                        <a:rPr b="0" lang="en-US" sz="1800" spc="-1" strike="noStrike">
                          <a:latin typeface="Arial"/>
                        </a:rPr>
                        <a:t>ertificate </a:t>
                      </a:r>
                      <a:r>
                        <a:rPr b="1" lang="en-US" sz="1800" spc="-1" strike="noStrike">
                          <a:latin typeface="Arial"/>
                        </a:rPr>
                        <a:t>R</a:t>
                      </a:r>
                      <a:r>
                        <a:rPr b="0" lang="en-US" sz="1800" spc="-1" strike="noStrike">
                          <a:latin typeface="Arial"/>
                        </a:rPr>
                        <a:t>evocation </a:t>
                      </a:r>
                      <a:r>
                        <a:rPr b="1" lang="en-US" sz="1800" spc="-1" strike="noStrike">
                          <a:latin typeface="Arial"/>
                        </a:rPr>
                        <a:t>L</a:t>
                      </a:r>
                      <a:r>
                        <a:rPr b="0" lang="en-US" sz="1800" spc="-1" strike="noStrike">
                          <a:latin typeface="Arial"/>
                        </a:rPr>
                        <a:t>ist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List of all certificates that have been revoked by the CA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Issued by the CA and sometimes downloaded by clients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87768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latin typeface="Arial"/>
                        </a:rPr>
                        <a:t>OCSP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latin typeface="Arial"/>
                        </a:rPr>
                        <a:t>O</a:t>
                      </a:r>
                      <a:r>
                        <a:rPr b="0" lang="en-US" sz="1800" spc="-1" strike="noStrike">
                          <a:latin typeface="Arial"/>
                        </a:rPr>
                        <a:t>nline </a:t>
                      </a:r>
                      <a:r>
                        <a:rPr b="1" lang="en-US" sz="1800" spc="-1" strike="noStrike">
                          <a:latin typeface="Arial"/>
                        </a:rPr>
                        <a:t>C</a:t>
                      </a:r>
                      <a:r>
                        <a:rPr b="0" lang="en-US" sz="1800" spc="-1" strike="noStrike">
                          <a:latin typeface="Arial"/>
                        </a:rPr>
                        <a:t>ertificate </a:t>
                      </a:r>
                      <a:r>
                        <a:rPr b="1" lang="en-US" sz="1800" spc="-1" strike="noStrike">
                          <a:latin typeface="Arial"/>
                        </a:rPr>
                        <a:t>S</a:t>
                      </a:r>
                      <a:r>
                        <a:rPr b="0" lang="en-US" sz="1800" spc="-1" strike="noStrike">
                          <a:latin typeface="Arial"/>
                        </a:rPr>
                        <a:t>tatus </a:t>
                      </a:r>
                      <a:r>
                        <a:rPr b="1" lang="en-US" sz="1800" spc="-1" strike="noStrike">
                          <a:latin typeface="Arial"/>
                        </a:rPr>
                        <a:t>P</a:t>
                      </a:r>
                      <a:r>
                        <a:rPr b="0" lang="en-US" sz="1800" spc="-1" strike="noStrike">
                          <a:latin typeface="Arial"/>
                        </a:rPr>
                        <a:t>rotcol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A real-time status check for a single certificate (good / revoked / unknown)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Used by browsers or servers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OCSP Stapling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06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CustomShape 3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308" name="Table 4"/>
          <p:cNvGraphicFramePr/>
          <p:nvPr/>
        </p:nvGraphicFramePr>
        <p:xfrm>
          <a:off x="833040" y="2542680"/>
          <a:ext cx="10438200" cy="3372480"/>
        </p:xfrm>
        <a:graphic>
          <a:graphicData uri="http://schemas.openxmlformats.org/drawingml/2006/table">
            <a:tbl>
              <a:tblPr/>
              <a:tblGrid>
                <a:gridCol w="2158920"/>
                <a:gridCol w="4295160"/>
                <a:gridCol w="3984480"/>
              </a:tblGrid>
              <a:tr h="614520"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latin typeface="Arial"/>
                        </a:rPr>
                        <a:t>Aspect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latin typeface="Arial"/>
                        </a:rPr>
                        <a:t>Without stapling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latin typeface="Arial"/>
                        </a:rPr>
                        <a:t>With OCSP stapling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7041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Who does the request?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Browser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Server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388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Speed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Slow (extra request)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Fast (in handshake)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4723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Privacy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CA knows which websites you’re visiting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Privacy friendly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471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Browser support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All modern browsers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All modern browsers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69588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Current status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Still used, but partly replaced by CRLite/CRLsets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Recommended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pic>
        <p:nvPicPr>
          <p:cNvPr id="309" name="" descr=""/>
          <p:cNvPicPr/>
          <p:nvPr/>
        </p:nvPicPr>
        <p:blipFill>
          <a:blip r:embed="rId1"/>
          <a:stretch/>
        </p:blipFill>
        <p:spPr>
          <a:xfrm>
            <a:off x="8458200" y="189000"/>
            <a:ext cx="2788560" cy="235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CAA Record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11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DNS Record to let know which CA can issue certificates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Optional Incident Reporting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https://sslmate.com/caa/ 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Cons:</a:t>
            </a: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Depends on all CAs to honour this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Depends on CA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312" name="Picture 4" descr=""/>
          <p:cNvPicPr/>
          <p:nvPr/>
        </p:nvPicPr>
        <p:blipFill>
          <a:blip r:embed="rId1"/>
          <a:stretch/>
        </p:blipFill>
        <p:spPr>
          <a:xfrm>
            <a:off x="6679440" y="3063960"/>
            <a:ext cx="5161320" cy="3427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52" dur="indefinite" restart="never" nodeType="tmRoot">
          <p:childTnLst>
            <p:seq>
              <p:cTn id="753" dur="indefinite" nodeType="mainSeq">
                <p:childTnLst>
                  <p:par>
                    <p:cTn id="754" fill="hold">
                      <p:stCondLst>
                        <p:cond delay="indefinite"/>
                      </p:stCondLst>
                      <p:childTnLst>
                        <p:par>
                          <p:cTn id="755" fill="hold">
                            <p:stCondLst>
                              <p:cond delay="0"/>
                            </p:stCondLst>
                            <p:childTnLst>
                              <p:par>
                                <p:cTn id="75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8" fill="hold">
                      <p:stCondLst>
                        <p:cond delay="indefinite"/>
                      </p:stCondLst>
                      <p:childTnLst>
                        <p:par>
                          <p:cTn id="759" fill="hold">
                            <p:stCondLst>
                              <p:cond delay="0"/>
                            </p:stCondLst>
                            <p:childTnLst>
                              <p:par>
                                <p:cTn id="76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2" fill="hold">
                      <p:stCondLst>
                        <p:cond delay="indefinite"/>
                      </p:stCondLst>
                      <p:childTnLst>
                        <p:par>
                          <p:cTn id="763" fill="hold">
                            <p:stCondLst>
                              <p:cond delay="0"/>
                            </p:stCondLst>
                            <p:childTnLst>
                              <p:par>
                                <p:cTn id="76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6" fill="hold">
                      <p:stCondLst>
                        <p:cond delay="indefinite"/>
                      </p:stCondLst>
                      <p:childTnLst>
                        <p:par>
                          <p:cTn id="767" fill="hold">
                            <p:stCondLst>
                              <p:cond delay="0"/>
                            </p:stCondLst>
                            <p:childTnLst>
                              <p:par>
                                <p:cTn id="76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0" fill="hold">
                      <p:stCondLst>
                        <p:cond delay="indefinite"/>
                      </p:stCondLst>
                      <p:childTnLst>
                        <p:par>
                          <p:cTn id="771" fill="hold">
                            <p:stCondLst>
                              <p:cond delay="0"/>
                            </p:stCondLst>
                            <p:childTnLst>
                              <p:par>
                                <p:cTn id="77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4" fill="hold">
                      <p:stCondLst>
                        <p:cond delay="indefinite"/>
                      </p:stCondLst>
                      <p:childTnLst>
                        <p:par>
                          <p:cTn id="775" fill="hold">
                            <p:stCondLst>
                              <p:cond delay="0"/>
                            </p:stCondLst>
                            <p:childTnLst>
                              <p:par>
                                <p:cTn id="77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Vulnerabilities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14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 fontScale="97000"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BEAST (CVE-2011-3389)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CRIME (CVE-2012-4929)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BREACH (CVE-2013-3587)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Heartbleed (CVE-2014-0160)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POODLE (CVE-2014-3566 &amp; CVE-2014-8730)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FREAK (CVE-2015-0204)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Bar Mitzvah (CVE-2015-2808)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Logjam (CVE-2015-4000)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DROWN (CVE-2016-0800)</a:t>
            </a:r>
            <a:endParaRPr b="0" lang="en-US" sz="28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SWEET32 (CVE-2016-2183)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latin typeface="Arial"/>
            </a:endParaRPr>
          </a:p>
        </p:txBody>
      </p:sp>
      <p:pic>
        <p:nvPicPr>
          <p:cNvPr id="315" name="Content Placeholder 4" descr=""/>
          <p:cNvPicPr/>
          <p:nvPr/>
        </p:nvPicPr>
        <p:blipFill>
          <a:blip r:embed="rId1"/>
          <a:stretch/>
        </p:blipFill>
        <p:spPr>
          <a:xfrm>
            <a:off x="4947120" y="774360"/>
            <a:ext cx="2162160" cy="2616120"/>
          </a:xfrm>
          <a:prstGeom prst="rect">
            <a:avLst/>
          </a:prstGeom>
          <a:ln w="0">
            <a:noFill/>
          </a:ln>
        </p:spPr>
      </p:pic>
      <p:pic>
        <p:nvPicPr>
          <p:cNvPr id="316" name="Picture 4" descr=""/>
          <p:cNvPicPr/>
          <p:nvPr/>
        </p:nvPicPr>
        <p:blipFill>
          <a:blip r:embed="rId2"/>
          <a:stretch/>
        </p:blipFill>
        <p:spPr>
          <a:xfrm>
            <a:off x="8001000" y="4001400"/>
            <a:ext cx="3611160" cy="2395800"/>
          </a:xfrm>
          <a:prstGeom prst="rect">
            <a:avLst/>
          </a:prstGeom>
          <a:ln w="0">
            <a:noFill/>
          </a:ln>
        </p:spPr>
      </p:pic>
      <p:pic>
        <p:nvPicPr>
          <p:cNvPr id="317" name="Picture 6" descr=""/>
          <p:cNvPicPr/>
          <p:nvPr/>
        </p:nvPicPr>
        <p:blipFill>
          <a:blip r:embed="rId3"/>
          <a:stretch/>
        </p:blipFill>
        <p:spPr>
          <a:xfrm>
            <a:off x="0" y="259920"/>
            <a:ext cx="1637280" cy="2015640"/>
          </a:xfrm>
          <a:prstGeom prst="rect">
            <a:avLst/>
          </a:prstGeom>
          <a:ln w="0">
            <a:noFill/>
          </a:ln>
        </p:spPr>
      </p:pic>
      <p:pic>
        <p:nvPicPr>
          <p:cNvPr id="318" name="Picture 8" descr=""/>
          <p:cNvPicPr/>
          <p:nvPr/>
        </p:nvPicPr>
        <p:blipFill>
          <a:blip r:embed="rId4"/>
          <a:stretch/>
        </p:blipFill>
        <p:spPr>
          <a:xfrm>
            <a:off x="4724280" y="4446000"/>
            <a:ext cx="1617120" cy="2338920"/>
          </a:xfrm>
          <a:prstGeom prst="rect">
            <a:avLst/>
          </a:prstGeom>
          <a:ln w="0">
            <a:noFill/>
          </a:ln>
        </p:spPr>
      </p:pic>
      <p:pic>
        <p:nvPicPr>
          <p:cNvPr id="319" name="Picture 10" descr=""/>
          <p:cNvPicPr/>
          <p:nvPr/>
        </p:nvPicPr>
        <p:blipFill>
          <a:blip r:embed="rId5"/>
          <a:stretch/>
        </p:blipFill>
        <p:spPr>
          <a:xfrm>
            <a:off x="9572040" y="117360"/>
            <a:ext cx="1779120" cy="3145320"/>
          </a:xfrm>
          <a:prstGeom prst="rect">
            <a:avLst/>
          </a:prstGeom>
          <a:ln w="0">
            <a:noFill/>
          </a:ln>
        </p:spPr>
      </p:pic>
      <p:pic>
        <p:nvPicPr>
          <p:cNvPr id="320" name="Picture 12" descr=""/>
          <p:cNvPicPr/>
          <p:nvPr/>
        </p:nvPicPr>
        <p:blipFill>
          <a:blip r:embed="rId6"/>
          <a:stretch/>
        </p:blipFill>
        <p:spPr>
          <a:xfrm>
            <a:off x="88920" y="5792040"/>
            <a:ext cx="1308240" cy="992880"/>
          </a:xfrm>
          <a:prstGeom prst="rect">
            <a:avLst/>
          </a:prstGeom>
          <a:ln w="0">
            <a:noFill/>
          </a:ln>
        </p:spPr>
      </p:pic>
      <p:pic>
        <p:nvPicPr>
          <p:cNvPr id="321" name="Picture 14" descr=""/>
          <p:cNvPicPr/>
          <p:nvPr/>
        </p:nvPicPr>
        <p:blipFill>
          <a:blip r:embed="rId7"/>
          <a:stretch/>
        </p:blipFill>
        <p:spPr>
          <a:xfrm>
            <a:off x="7074360" y="2344680"/>
            <a:ext cx="2854080" cy="1655280"/>
          </a:xfrm>
          <a:prstGeom prst="rect">
            <a:avLst/>
          </a:prstGeom>
          <a:ln w="0">
            <a:noFill/>
          </a:ln>
        </p:spPr>
      </p:pic>
      <p:pic>
        <p:nvPicPr>
          <p:cNvPr id="322" name="Picture 16" descr=""/>
          <p:cNvPicPr/>
          <p:nvPr/>
        </p:nvPicPr>
        <p:blipFill>
          <a:blip r:embed="rId8"/>
          <a:stretch/>
        </p:blipFill>
        <p:spPr>
          <a:xfrm>
            <a:off x="6220440" y="4001400"/>
            <a:ext cx="1779120" cy="1725120"/>
          </a:xfrm>
          <a:prstGeom prst="rect">
            <a:avLst/>
          </a:prstGeom>
          <a:ln w="0">
            <a:noFill/>
          </a:ln>
        </p:spPr>
      </p:pic>
      <p:pic>
        <p:nvPicPr>
          <p:cNvPr id="323" name="Picture 18" descr=""/>
          <p:cNvPicPr/>
          <p:nvPr/>
        </p:nvPicPr>
        <p:blipFill>
          <a:blip r:embed="rId9"/>
          <a:stretch/>
        </p:blipFill>
        <p:spPr>
          <a:xfrm>
            <a:off x="7479000" y="0"/>
            <a:ext cx="2044440" cy="2009160"/>
          </a:xfrm>
          <a:prstGeom prst="rect">
            <a:avLst/>
          </a:prstGeom>
          <a:ln w="0">
            <a:noFill/>
          </a:ln>
          <a:effectLst>
            <a:softEdge rad="317520"/>
          </a:effectLst>
        </p:spPr>
      </p:pic>
      <p:pic>
        <p:nvPicPr>
          <p:cNvPr id="324" name="Picture 20" descr=""/>
          <p:cNvPicPr/>
          <p:nvPr/>
        </p:nvPicPr>
        <p:blipFill>
          <a:blip r:embed="rId10"/>
          <a:stretch/>
        </p:blipFill>
        <p:spPr>
          <a:xfrm flipH="1" rot="10800000">
            <a:off x="1752120" y="5791680"/>
            <a:ext cx="2852640" cy="1433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78" dur="indefinite" restart="never" nodeType="tmRoot">
          <p:childTnLst>
            <p:seq>
              <p:cTn id="779" dur="indefinite" nodeType="mainSeq">
                <p:childTnLst>
                  <p:par>
                    <p:cTn id="780" fill="hold">
                      <p:stCondLst>
                        <p:cond delay="0"/>
                      </p:stCondLst>
                      <p:childTnLst>
                        <p:par>
                          <p:cTn id="781" fill="hold">
                            <p:stCondLst>
                              <p:cond delay="0"/>
                            </p:stCondLst>
                            <p:childTnLst>
                              <p:par>
                                <p:cTn id="782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84" dur="1500"/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85" dur="1500" fill="hold"/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86" dur="1500" fill="hold"/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7" nodeType="withEffect" fill="hold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789" dur="1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0" fill="hold">
                            <p:stCondLst>
                              <p:cond delay="1500"/>
                            </p:stCondLst>
                            <p:childTnLst>
                              <p:par>
                                <p:cTn id="791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3" dur="1500"/>
                                        <p:tgtEl>
                                          <p:spTgt spid="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94" dur="1500" fill="hold"/>
                                        <p:tgtEl>
                                          <p:spTgt spid="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95" dur="1500" fill="hold"/>
                                        <p:tgtEl>
                                          <p:spTgt spid="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8" dur="1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99" dur="1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00" dur="1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1" fill="hold">
                            <p:stCondLst>
                              <p:cond delay="3000"/>
                            </p:stCondLst>
                            <p:childTnLst>
                              <p:par>
                                <p:cTn id="802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4" dur="1500"/>
                                        <p:tgtEl>
                                          <p:spTgt spid="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05" dur="1500" fill="hold"/>
                                        <p:tgtEl>
                                          <p:spTgt spid="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06" dur="1500" fill="hold"/>
                                        <p:tgtEl>
                                          <p:spTgt spid="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7" nodeType="withEffect" fill="hold" presetClass="entr" presetID="6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out)" transition="in">
                                      <p:cBhvr additive="repl">
                                        <p:cTn id="809" dur="1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0" fill="hold">
                            <p:stCondLst>
                              <p:cond delay="4500"/>
                            </p:stCondLst>
                            <p:childTnLst>
                              <p:par>
                                <p:cTn id="811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3" dur="1500"/>
                                        <p:tgtEl>
                                          <p:spTgt spid="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14" dur="1500" fill="hold"/>
                                        <p:tgtEl>
                                          <p:spTgt spid="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15" dur="1500" fill="hold"/>
                                        <p:tgtEl>
                                          <p:spTgt spid="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6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818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9" fill="hold">
                            <p:stCondLst>
                              <p:cond delay="6000"/>
                            </p:stCondLst>
                            <p:childTnLst>
                              <p:par>
                                <p:cTn id="820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2" dur="1500"/>
                                        <p:tgtEl>
                                          <p:spTgt spid="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23" dur="1500" fill="hold"/>
                                        <p:tgtEl>
                                          <p:spTgt spid="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24" dur="1500" fill="hold"/>
                                        <p:tgtEl>
                                          <p:spTgt spid="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5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827" dur="1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8" fill="hold">
                            <p:stCondLst>
                              <p:cond delay="7500"/>
                            </p:stCondLst>
                            <p:childTnLst>
                              <p:par>
                                <p:cTn id="829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1" dur="1500"/>
                                        <p:tgtEl>
                                          <p:spTgt spid="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32" dur="1500" fill="hold"/>
                                        <p:tgtEl>
                                          <p:spTgt spid="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33" dur="1500" fill="hold"/>
                                        <p:tgtEl>
                                          <p:spTgt spid="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4" nodeType="with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36" dur="1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37" dur="1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8" fill="hold">
                            <p:stCondLst>
                              <p:cond delay="9000"/>
                            </p:stCondLst>
                            <p:childTnLst>
                              <p:par>
                                <p:cTn id="839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1" dur="1500"/>
                                        <p:tgtEl>
                                          <p:spTgt spid="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42" dur="1500" fill="hold"/>
                                        <p:tgtEl>
                                          <p:spTgt spid="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43" dur="1500" fill="hold"/>
                                        <p:tgtEl>
                                          <p:spTgt spid="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4" nodeType="withEffect" fill="hold" presetClass="entr" presetID="4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6" dur="1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47" dur="15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flt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48" dur="15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9" fill="hold">
                            <p:stCondLst>
                              <p:cond delay="10500"/>
                            </p:stCondLst>
                            <p:childTnLst>
                              <p:par>
                                <p:cTn id="850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2" dur="1500"/>
                                        <p:tgtEl>
                                          <p:spTgt spid="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53" dur="1500" fill="hold"/>
                                        <p:tgtEl>
                                          <p:spTgt spid="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54" dur="1500" fill="hold"/>
                                        <p:tgtEl>
                                          <p:spTgt spid="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5" nodeType="withEffect" fill="hold" presetClass="entr" presetID="21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heel(1)" transition="in">
                                      <p:cBhvr additive="repl">
                                        <p:cTn id="857" dur="1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8" fill="hold">
                            <p:stCondLst>
                              <p:cond delay="12000"/>
                            </p:stCondLst>
                            <p:childTnLst>
                              <p:par>
                                <p:cTn id="859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1" dur="1500"/>
                                        <p:tgtEl>
                                          <p:spTgt spid="3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62" dur="1500" fill="hold"/>
                                        <p:tgtEl>
                                          <p:spTgt spid="3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63" dur="1500" fill="hold"/>
                                        <p:tgtEl>
                                          <p:spTgt spid="3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6" dur="1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7" fill="hold">
                            <p:stCondLst>
                              <p:cond delay="13500"/>
                            </p:stCondLst>
                            <p:childTnLst>
                              <p:par>
                                <p:cTn id="868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0" dur="1500"/>
                                        <p:tgtEl>
                                          <p:spTgt spid="3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71" dur="1500" fill="hold"/>
                                        <p:tgtEl>
                                          <p:spTgt spid="3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72" dur="1500" fill="hold"/>
                                        <p:tgtEl>
                                          <p:spTgt spid="3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3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875" dur="1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26" name="Content Placeholder 4" descr=""/>
          <p:cNvPicPr/>
          <p:nvPr/>
        </p:nvPicPr>
        <p:blipFill>
          <a:blip r:embed="rId1"/>
          <a:stretch/>
        </p:blipFill>
        <p:spPr>
          <a:xfrm>
            <a:off x="4161960" y="1825560"/>
            <a:ext cx="3866400" cy="434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Resources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28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Openssl</a:t>
            </a: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Generate csr / private key</a:t>
            </a:r>
            <a:endParaRPr b="0" lang="en-US" sz="24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Inspect CSRs &amp; certificates</a:t>
            </a:r>
            <a:endParaRPr b="0" lang="en-US" sz="24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Testssl</a:t>
            </a: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https://github.com/drwetter/testssl.sh</a:t>
            </a:r>
            <a:endParaRPr b="0" lang="en-US" sz="24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SSLlabs</a:t>
            </a: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 u="sng">
                <a:solidFill>
                  <a:srgbClr val="0563c1"/>
                </a:solidFill>
                <a:uFillTx/>
                <a:latin typeface="Calibri"/>
                <a:ea typeface="DejaVu Sans"/>
                <a:hlinkClick r:id="rId1"/>
              </a:rPr>
              <a:t>https://www.ssllabs.com/ssltest/</a:t>
            </a:r>
            <a:endParaRPr b="0" lang="en-US" sz="24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Mindmap</a:t>
            </a:r>
            <a:endParaRPr b="0" lang="en-US" sz="2800" spc="-1" strike="noStrike">
              <a:latin typeface="Arial"/>
            </a:endParaRPr>
          </a:p>
          <a:p>
            <a:pPr lvl="1" marL="685800" indent="-22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nl-NL" sz="2400" spc="-1" strike="noStrike" u="sng">
                <a:solidFill>
                  <a:srgbClr val="0563c1"/>
                </a:solidFill>
                <a:uFillTx/>
                <a:latin typeface="Calibri"/>
                <a:ea typeface="DejaVu Sans"/>
                <a:hlinkClick r:id="rId2"/>
              </a:rPr>
              <a:t>https://github.com/bitnesswise/https-mindmap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CustomShape 1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0" lang="nl-NL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License &amp; Attribution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30" name="CustomShape 2"/>
          <p:cNvSpPr/>
          <p:nvPr/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nl-NL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This presentation is licensed under the </a:t>
            </a:r>
            <a:r>
              <a:rPr b="1" lang="nl-NL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Creative Commons Attribution 4.0 International License (CC BY 4.0)</a:t>
            </a:r>
            <a:r>
              <a:rPr b="0" lang="nl-NL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nl-NL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You are free to use, share, and adapt this presentation, including for commercial purposes.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nl-NL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Original source: </a:t>
            </a:r>
            <a:r>
              <a:rPr b="0" lang="nl-NL" sz="1600" spc="-1" strike="noStrike" u="sng">
                <a:solidFill>
                  <a:srgbClr val="0563c1"/>
                </a:solidFill>
                <a:uFillTx/>
                <a:latin typeface="Calibri"/>
                <a:ea typeface="DejaVu Sans"/>
                <a:hlinkClick r:id="rId1"/>
              </a:rPr>
              <a:t>https://github.com/bitnesswise/https-presentation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nl-NL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Please:</a:t>
            </a:r>
            <a:endParaRPr b="0" lang="en-US" sz="16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nl-NL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Keep the original source attributions intact</a:t>
            </a:r>
            <a:endParaRPr b="0" lang="en-US" sz="16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nl-NL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Credit the original author</a:t>
            </a:r>
            <a:endParaRPr b="0" lang="en-US" sz="1600" spc="-1" strike="noStrike">
              <a:latin typeface="Arial"/>
            </a:endParaRPr>
          </a:p>
          <a:p>
            <a:pPr marL="228600" indent="-227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nl-NL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Indicate if you have made changes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nl-NL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You are not required to publish or share your adaptations.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nl-NL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© 2026 Martijn Korse / BitnessWise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nl-NL" sz="1600" spc="-1" strike="noStrike" u="sng">
                <a:solidFill>
                  <a:srgbClr val="0563c1"/>
                </a:solidFill>
                <a:uFillTx/>
                <a:latin typeface="Calibri"/>
                <a:ea typeface="DejaVu Sans"/>
                <a:hlinkClick r:id="rId2"/>
              </a:rPr>
              <a:t>CC BY 4.0 License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35250</TotalTime>
  <Application>LibreOffice/7.0.4.2$Windows_X86_64 LibreOffice_project/dcf040e67528d9187c66b2379df5ea4407429775</Application>
  <AppVersion>15.0000</AppVersion>
  <Words>1495</Words>
  <Paragraphs>289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2018-09-07T20:46:24Z</dcterms:created>
  <dc:creator>Korse, Martijn</dc:creator>
  <dc:description/>
  <dc:language>en-US</dc:language>
  <cp:lastModifiedBy/>
  <dcterms:modified xsi:type="dcterms:W3CDTF">2026-09-17T21:45:45Z</dcterms:modified>
  <cp:revision>154</cp:revision>
  <dc:subject/>
  <dc:title>SLL Certificates and connections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2dc6f62-bb58-4b94-b6ca-9af54699d31b_Application">
    <vt:lpwstr>Microsoft Azure Information Protection</vt:lpwstr>
  </property>
  <property fmtid="{D5CDD505-2E9C-101B-9397-08002B2CF9AE}" pid="3" name="MSIP_Label_d2dc6f62-bb58-4b94-b6ca-9af54699d31b_Enabled">
    <vt:lpwstr>True</vt:lpwstr>
  </property>
  <property fmtid="{D5CDD505-2E9C-101B-9397-08002B2CF9AE}" pid="4" name="MSIP_Label_d2dc6f62-bb58-4b94-b6ca-9af54699d31b_Extended_MSFT_Method">
    <vt:lpwstr>Automatic</vt:lpwstr>
  </property>
  <property fmtid="{D5CDD505-2E9C-101B-9397-08002B2CF9AE}" pid="5" name="MSIP_Label_d2dc6f62-bb58-4b94-b6ca-9af54699d31b_Name">
    <vt:lpwstr>Intern gebruik</vt:lpwstr>
  </property>
  <property fmtid="{D5CDD505-2E9C-101B-9397-08002B2CF9AE}" pid="6" name="MSIP_Label_d2dc6f62-bb58-4b94-b6ca-9af54699d31b_Owner">
    <vt:lpwstr>martijn.korse@kpn.com</vt:lpwstr>
  </property>
  <property fmtid="{D5CDD505-2E9C-101B-9397-08002B2CF9AE}" pid="7" name="MSIP_Label_d2dc6f62-bb58-4b94-b6ca-9af54699d31b_SetDate">
    <vt:lpwstr>2018-09-10T05:24:20.5434087Z</vt:lpwstr>
  </property>
  <property fmtid="{D5CDD505-2E9C-101B-9397-08002B2CF9AE}" pid="8" name="MSIP_Label_d2dc6f62-bb58-4b94-b6ca-9af54699d31b_SiteId">
    <vt:lpwstr>00000000-0000-0000-0000-000000000000</vt:lpwstr>
  </property>
  <property fmtid="{D5CDD505-2E9C-101B-9397-08002B2CF9AE}" pid="9" name="PresentationFormat">
    <vt:lpwstr>Widescreen</vt:lpwstr>
  </property>
  <property fmtid="{D5CDD505-2E9C-101B-9397-08002B2CF9AE}" pid="10" name="Sensitivity">
    <vt:lpwstr>Intern gebruik</vt:lpwstr>
  </property>
  <property fmtid="{D5CDD505-2E9C-101B-9397-08002B2CF9AE}" pid="11" name="Slides">
    <vt:i4>70</vt:i4>
  </property>
</Properties>
</file>